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382D0-E5E5-42D8-AA41-3ABE763FF4D8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75DBD-5771-499A-B872-6B661169A4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586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C0CF-A65C-3C8B-02FE-A549DA1E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8058EC-60F2-374F-CC23-FBD5D6BED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71BA53D-6BB7-CB1C-F435-11D15AE2E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9A4C1F-325B-2C7E-3FC5-E768E9058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DBD-5771-499A-B872-6B661169A41A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752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DBD-5771-499A-B872-6B661169A41A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213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DBD-5771-499A-B872-6B661169A41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755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DBD-5771-499A-B872-6B661169A41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7174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DBD-5771-499A-B872-6B661169A41A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337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DBD-5771-499A-B872-6B661169A41A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928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D50CEC-2D8F-8026-47E6-04A4C12AB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4430A93-298F-5D9B-8ECA-6707CB9B8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407F7F-664A-902D-A26B-AE307F7F3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72BD34-D188-1FA3-ABC3-753F0EC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C076E0-52C5-453B-CA20-4C7FE698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078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37F433-48D4-31D3-C6A0-9D4A028C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855FA4-0FC6-D852-07D8-6830CE175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79EF4C-A68A-5402-5B1B-C3416E63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41130A-28E2-BBE4-C6B5-358C4867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E8662B-AD87-9186-4D66-49D79BC4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925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34C821-39DA-B97E-7CCA-66C3C25F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52DAE5-C187-CEAC-7898-BF94284F1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2AAA91-5102-897D-8340-50C1CAE1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F0E84E-8CB6-9F56-6271-0EB24959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F69081-F1C2-360E-CB17-7067DA1C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942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5D9605-D616-0D40-FB6B-5EC89781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DA9352-0444-1DC7-58BB-48739D7F3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C4BAF5E-49ED-626B-AEDD-42EC5F2E8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010051-DAF8-6C5F-CFC2-718F9344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8DAC4D-F798-CC8D-7FFE-59FE3A7E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B93CBED-F511-2CBC-09C4-C70349FA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7391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508421-513B-A887-0C14-034FDFE9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C3433B-C614-77A7-26F0-FA41C84D7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7AED8B1-7A3E-E9CF-E3BB-D2DC75F44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B8E045F-3E6E-6890-2B56-B4DB60027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95E2C43-1CEE-1BF8-6B94-02FDFE57F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A7E8988-E4A6-53AB-30AF-8D98B49A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F94DA5F-A7CB-5461-667A-190702E8E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EE54323-49A8-DB1F-15EE-D360AF6A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83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384DB9-7BB0-E0BF-2860-D30E190D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D4D6471-66FF-56FD-1022-6EF866C8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32A0C87-CD2D-66D1-4BD8-E4748B86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2BEB518-5A29-6886-CE16-4CB72EE8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983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9F16DB7-2E2B-C690-8E6C-8A494D07B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C4DD13F-CB38-C55B-C9A1-F2BAA1B1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C1E800-05B8-1F1D-AFFE-E9EB501B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5009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EE4C02-4C3C-DDF0-6651-DB351D44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77591A-F6CE-F2F5-CC93-91E5B90E2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85F3C6E-559F-D2D1-3086-A62B5985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3E12DDE-1B25-6810-4CE4-C4DB31A0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634B7C-0AF4-4207-0258-E494C74E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61DE1A-31E3-E918-F2B1-13F3BB89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50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B5326C-0A46-EA2B-86D5-69874A70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89C8C20-A1EA-36B0-6FC0-BCC8A2CDF5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E4CBB25-8077-A2CD-FB20-B6D518988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976DCE7-E2BD-35E4-67E6-9632944E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C2DB27-74B0-6DC7-0EFB-588E0F32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5274D15-E7B5-B73B-6B3E-6E0B5CDB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716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8A12A7-25FA-E9D3-04B7-7689B42F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492BF26-9878-14BF-935D-9A916E5B9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C05E75-E26D-2B2D-1C43-D93D8885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256234-9FEA-F1E4-2F22-16A5A080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67A92D-59F9-9DB3-4117-B4FFB9F4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123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1028665-0DC8-7246-8B9C-2BDE1C159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4EB7914-FC80-9B7E-F203-DEB60AAA7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6BB8AC-863D-B88A-DB9C-FC501E03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4C66BA-3EDA-248F-C1D9-C9F9F5D4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87169F-C1DA-6118-3B91-6C7D76FB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29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678C05F-22BB-148F-CA23-FDFD3FC2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69B83B-78CC-0B1C-D313-F8445A2EB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81A6B6D-EF6A-1BC2-50F6-FB93544D7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7FF2D-06F0-4022-BD05-94C850C7DAA6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3B0DFD-9548-807D-DA64-8D2454EAF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A17A1D-D93B-73DF-006D-ADFB4FDD8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D3C8A-D959-4138-A4C6-4C123A6B7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1B1F09-C28D-E752-21D8-978E8B47A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4800"/>
              <a:t>Configuratore di prodotto per le vendite</a:t>
            </a:r>
            <a:endParaRPr lang="it-IT" sz="48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A7820FF-99A4-E60D-2AAD-5ACC42D4C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029075" cy="1655762"/>
          </a:xfrm>
        </p:spPr>
        <p:txBody>
          <a:bodyPr/>
          <a:lstStyle/>
          <a:p>
            <a:r>
              <a:rPr lang="it-IT"/>
              <a:t>Autore: Cavina Mattia</a:t>
            </a:r>
            <a:endParaRPr lang="it-IT" dirty="0"/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C27C0FC0-BBF0-ED33-C526-21D5CC9629F6}"/>
              </a:ext>
            </a:extLst>
          </p:cNvPr>
          <p:cNvSpPr txBox="1">
            <a:spLocks/>
          </p:cNvSpPr>
          <p:nvPr/>
        </p:nvSpPr>
        <p:spPr>
          <a:xfrm>
            <a:off x="6734175" y="3602038"/>
            <a:ext cx="402907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Relatrice: Annalisa Franco</a:t>
            </a:r>
          </a:p>
        </p:txBody>
      </p:sp>
    </p:spTree>
    <p:extLst>
      <p:ext uri="{BB962C8B-B14F-4D97-AF65-F5344CB8AC3E}">
        <p14:creationId xmlns:p14="http://schemas.microsoft.com/office/powerpoint/2010/main" val="2759071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4288-F842-4AE0-A807-7E16E30F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666B2835-0269-32DC-36EF-334E57A0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it-IT" sz="5400" dirty="0"/>
              <a:t>Contesto di lavoro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63E716C-0283-EE04-3345-11BB1F568B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3550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8940F7-3D25-439E-2C90-3B565EC23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it-IT" sz="2200" dirty="0"/>
              <a:t>Richiedente: azienda </a:t>
            </a:r>
            <a:r>
              <a:rPr lang="it-IT" sz="2200" dirty="0" err="1"/>
              <a:t>Cepi.s.p.a</a:t>
            </a:r>
            <a:r>
              <a:rPr lang="it-IT" sz="2200" dirty="0"/>
              <a:t>.</a:t>
            </a:r>
          </a:p>
          <a:p>
            <a:r>
              <a:rPr lang="it-IT" sz="2200" dirty="0"/>
              <a:t>Situazione: azienda in espansione con un fatturato in crescita</a:t>
            </a:r>
          </a:p>
          <a:p>
            <a:r>
              <a:rPr lang="it-IT" sz="2200" dirty="0"/>
              <a:t>Reparto interessato al progetto: Reparto vendite</a:t>
            </a:r>
          </a:p>
          <a:p>
            <a:r>
              <a:rPr lang="it-IT" sz="2200" dirty="0"/>
              <a:t>Attuale tecnologia utilizzata: Database Access implementato ~30 anni fa.</a:t>
            </a:r>
          </a:p>
          <a:p>
            <a:r>
              <a:rPr lang="it-IT" sz="2200" dirty="0"/>
              <a:t>Attuale fase aziendale: l’azienda è in un momento di riorganizzazione dei flussi e programmi informativi</a:t>
            </a:r>
          </a:p>
        </p:txBody>
      </p:sp>
    </p:spTree>
    <p:extLst>
      <p:ext uri="{BB962C8B-B14F-4D97-AF65-F5344CB8AC3E}">
        <p14:creationId xmlns:p14="http://schemas.microsoft.com/office/powerpoint/2010/main" val="466100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515082-5FF7-C561-38E3-04FC5D6A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5400" dirty="0"/>
              <a:t>Motivazioni e risultati attesi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7C8E6A-D826-8C2D-C194-28A69E749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sz="2200" dirty="0"/>
              <a:t>Sostituire l’attuale sistema basato su Microsoft Access.</a:t>
            </a:r>
          </a:p>
          <a:p>
            <a:r>
              <a:rPr lang="it-IT" sz="2200" dirty="0"/>
              <a:t>Miglioramento dei tempi di realizzazione offerte</a:t>
            </a:r>
          </a:p>
          <a:p>
            <a:r>
              <a:rPr lang="it-IT" sz="2200" dirty="0"/>
              <a:t>Sistema integrato nell’ecosistema aziendale</a:t>
            </a:r>
          </a:p>
          <a:p>
            <a:r>
              <a:rPr lang="it-IT" sz="2200" dirty="0"/>
              <a:t>Strumento moderno ed estendibile</a:t>
            </a:r>
          </a:p>
          <a:p>
            <a:r>
              <a:rPr lang="it-IT" sz="2200" dirty="0"/>
              <a:t>Sistema affidabile che possa guidare i processi a valle dell’offerta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B1CD822-CAC1-2417-B6E1-3AEA40FE2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679" y="1277722"/>
            <a:ext cx="3279063" cy="538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1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CDF3F57-DBBE-149B-33FD-C002901C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5400"/>
              <a:t>Raccolta requisiti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2EB47B-9CEC-D6F2-EEB0-6ACDBC2CF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it-IT" sz="2200" dirty="0"/>
              <a:t>Interviste condotte a 14 utenti:</a:t>
            </a:r>
          </a:p>
          <a:p>
            <a:r>
              <a:rPr lang="it-IT" sz="2200" dirty="0"/>
              <a:t>3 soci con responsabilità distinte</a:t>
            </a:r>
          </a:p>
          <a:p>
            <a:r>
              <a:rPr lang="it-IT" sz="2200" dirty="0"/>
              <a:t>4 non utilizzatori</a:t>
            </a:r>
          </a:p>
          <a:p>
            <a:r>
              <a:rPr lang="it-IT" sz="2200" dirty="0"/>
              <a:t>7 utilizzatori dell’attuale programma</a:t>
            </a:r>
          </a:p>
          <a:p>
            <a:r>
              <a:rPr lang="it-IT" sz="2200" dirty="0"/>
              <a:t>Interviste condotte singolarmente con l’utilizzo di registrazione audio e video.</a:t>
            </a:r>
          </a:p>
        </p:txBody>
      </p:sp>
    </p:spTree>
    <p:extLst>
      <p:ext uri="{BB962C8B-B14F-4D97-AF65-F5344CB8AC3E}">
        <p14:creationId xmlns:p14="http://schemas.microsoft.com/office/powerpoint/2010/main" val="82979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1BEB27-E375-CF7F-39A2-86798462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Metodologia progettazione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4D080A-264A-F3B7-BC24-D7277569B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360"/>
            <a:ext cx="6526161" cy="1851640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it-IT" sz="2200" dirty="0"/>
              <a:t>Scelta progettazione agile</a:t>
            </a:r>
          </a:p>
          <a:p>
            <a:r>
              <a:rPr lang="it-IT" sz="2200" dirty="0"/>
              <a:t>Uso database di test in locale per lo sviluppo</a:t>
            </a:r>
          </a:p>
          <a:p>
            <a:r>
              <a:rPr lang="it-IT" sz="2200" dirty="0"/>
              <a:t>Creazione di test per validare il back end</a:t>
            </a:r>
          </a:p>
          <a:p>
            <a:r>
              <a:rPr lang="it-IT" sz="2200" dirty="0"/>
              <a:t>Frequenti focus group sfruttando mia presenza in azienda.</a:t>
            </a:r>
          </a:p>
          <a:p>
            <a:r>
              <a:rPr lang="it-IT" sz="2200" dirty="0"/>
              <a:t>Prototipazione interfacce </a:t>
            </a:r>
            <a:r>
              <a:rPr lang="it-IT" sz="2200" dirty="0" err="1"/>
              <a:t>view</a:t>
            </a:r>
            <a:r>
              <a:rPr lang="it-IT" sz="2200" dirty="0"/>
              <a:t>.</a:t>
            </a:r>
          </a:p>
          <a:p>
            <a:pPr marL="0" indent="0">
              <a:buNone/>
            </a:pPr>
            <a:endParaRPr lang="it-IT" sz="2200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36541A7-24D1-4A13-148F-47556F2A3D00}"/>
              </a:ext>
            </a:extLst>
          </p:cNvPr>
          <p:cNvSpPr txBox="1">
            <a:spLocks/>
          </p:cNvSpPr>
          <p:nvPr/>
        </p:nvSpPr>
        <p:spPr>
          <a:xfrm>
            <a:off x="838200" y="4682331"/>
            <a:ext cx="77256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200" dirty="0"/>
              <a:t>Coprire tutte le attuali funzioni</a:t>
            </a:r>
          </a:p>
          <a:p>
            <a:r>
              <a:rPr lang="it-IT" sz="2200" dirty="0"/>
              <a:t>Eliminare attuali problematiche bloccanti ( Es: deadlock)</a:t>
            </a:r>
          </a:p>
          <a:p>
            <a:r>
              <a:rPr lang="it-IT" sz="2200" dirty="0"/>
              <a:t>Integrare il programma nel ciclo di produzione aziendale.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A228C782-48C8-DFBD-6236-FC8A67D9B6F4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Obbiettivi primo rilascio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24E7BBD4-6AA0-1729-0813-92612811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99872" y="1375622"/>
            <a:ext cx="6769608" cy="45719"/>
          </a:xfrm>
          <a:custGeom>
            <a:avLst/>
            <a:gdLst>
              <a:gd name="csX0" fmla="*/ 0 w 6769608"/>
              <a:gd name="csY0" fmla="*/ 0 h 45719"/>
              <a:gd name="csX1" fmla="*/ 676961 w 6769608"/>
              <a:gd name="csY1" fmla="*/ 0 h 45719"/>
              <a:gd name="csX2" fmla="*/ 1353922 w 6769608"/>
              <a:gd name="csY2" fmla="*/ 0 h 45719"/>
              <a:gd name="csX3" fmla="*/ 2030882 w 6769608"/>
              <a:gd name="csY3" fmla="*/ 0 h 45719"/>
              <a:gd name="csX4" fmla="*/ 2843235 w 6769608"/>
              <a:gd name="csY4" fmla="*/ 0 h 45719"/>
              <a:gd name="csX5" fmla="*/ 3587892 w 6769608"/>
              <a:gd name="csY5" fmla="*/ 0 h 45719"/>
              <a:gd name="csX6" fmla="*/ 4061765 w 6769608"/>
              <a:gd name="csY6" fmla="*/ 0 h 45719"/>
              <a:gd name="csX7" fmla="*/ 4671030 w 6769608"/>
              <a:gd name="csY7" fmla="*/ 0 h 45719"/>
              <a:gd name="csX8" fmla="*/ 5483382 w 6769608"/>
              <a:gd name="csY8" fmla="*/ 0 h 45719"/>
              <a:gd name="csX9" fmla="*/ 6160343 w 6769608"/>
              <a:gd name="csY9" fmla="*/ 0 h 45719"/>
              <a:gd name="csX10" fmla="*/ 6769608 w 6769608"/>
              <a:gd name="csY10" fmla="*/ 0 h 45719"/>
              <a:gd name="csX11" fmla="*/ 6769608 w 6769608"/>
              <a:gd name="csY11" fmla="*/ 45719 h 45719"/>
              <a:gd name="csX12" fmla="*/ 6228039 w 6769608"/>
              <a:gd name="csY12" fmla="*/ 45719 h 45719"/>
              <a:gd name="csX13" fmla="*/ 5415686 w 6769608"/>
              <a:gd name="csY13" fmla="*/ 45719 h 45719"/>
              <a:gd name="csX14" fmla="*/ 4874118 w 6769608"/>
              <a:gd name="csY14" fmla="*/ 45719 h 45719"/>
              <a:gd name="csX15" fmla="*/ 4400245 w 6769608"/>
              <a:gd name="csY15" fmla="*/ 45719 h 45719"/>
              <a:gd name="csX16" fmla="*/ 3926373 w 6769608"/>
              <a:gd name="csY16" fmla="*/ 45719 h 45719"/>
              <a:gd name="csX17" fmla="*/ 3181716 w 6769608"/>
              <a:gd name="csY17" fmla="*/ 45719 h 45719"/>
              <a:gd name="csX18" fmla="*/ 2707843 w 6769608"/>
              <a:gd name="csY18" fmla="*/ 45719 h 45719"/>
              <a:gd name="csX19" fmla="*/ 2030882 w 6769608"/>
              <a:gd name="csY19" fmla="*/ 45719 h 45719"/>
              <a:gd name="csX20" fmla="*/ 1489314 w 6769608"/>
              <a:gd name="csY20" fmla="*/ 45719 h 45719"/>
              <a:gd name="csX21" fmla="*/ 812353 w 6769608"/>
              <a:gd name="csY21" fmla="*/ 45719 h 45719"/>
              <a:gd name="csX22" fmla="*/ 0 w 6769608"/>
              <a:gd name="csY22" fmla="*/ 45719 h 45719"/>
              <a:gd name="csX23" fmla="*/ 0 w 6769608"/>
              <a:gd name="csY23" fmla="*/ 0 h 45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769608" h="45719" fill="none" extrusionOk="0">
                <a:moveTo>
                  <a:pt x="0" y="0"/>
                </a:moveTo>
                <a:cubicBezTo>
                  <a:pt x="325733" y="32600"/>
                  <a:pt x="482259" y="24902"/>
                  <a:pt x="676961" y="0"/>
                </a:cubicBezTo>
                <a:cubicBezTo>
                  <a:pt x="871663" y="-24902"/>
                  <a:pt x="1213193" y="27588"/>
                  <a:pt x="1353922" y="0"/>
                </a:cubicBezTo>
                <a:cubicBezTo>
                  <a:pt x="1494651" y="-27588"/>
                  <a:pt x="1881292" y="2783"/>
                  <a:pt x="2030882" y="0"/>
                </a:cubicBezTo>
                <a:cubicBezTo>
                  <a:pt x="2180472" y="-2783"/>
                  <a:pt x="2632211" y="-20338"/>
                  <a:pt x="2843235" y="0"/>
                </a:cubicBezTo>
                <a:cubicBezTo>
                  <a:pt x="3054259" y="20338"/>
                  <a:pt x="3313343" y="27971"/>
                  <a:pt x="3587892" y="0"/>
                </a:cubicBezTo>
                <a:cubicBezTo>
                  <a:pt x="3862441" y="-27971"/>
                  <a:pt x="3941422" y="12766"/>
                  <a:pt x="4061765" y="0"/>
                </a:cubicBezTo>
                <a:cubicBezTo>
                  <a:pt x="4182108" y="-12766"/>
                  <a:pt x="4370576" y="-26789"/>
                  <a:pt x="4671030" y="0"/>
                </a:cubicBezTo>
                <a:cubicBezTo>
                  <a:pt x="4971484" y="26789"/>
                  <a:pt x="5309281" y="28580"/>
                  <a:pt x="5483382" y="0"/>
                </a:cubicBezTo>
                <a:cubicBezTo>
                  <a:pt x="5657483" y="-28580"/>
                  <a:pt x="6009129" y="-1723"/>
                  <a:pt x="6160343" y="0"/>
                </a:cubicBezTo>
                <a:cubicBezTo>
                  <a:pt x="6311557" y="1723"/>
                  <a:pt x="6495002" y="-16094"/>
                  <a:pt x="6769608" y="0"/>
                </a:cubicBezTo>
                <a:cubicBezTo>
                  <a:pt x="6771613" y="9458"/>
                  <a:pt x="6768440" y="33623"/>
                  <a:pt x="6769608" y="45719"/>
                </a:cubicBezTo>
                <a:cubicBezTo>
                  <a:pt x="6578959" y="27744"/>
                  <a:pt x="6404107" y="61066"/>
                  <a:pt x="6228039" y="45719"/>
                </a:cubicBezTo>
                <a:cubicBezTo>
                  <a:pt x="6051971" y="30372"/>
                  <a:pt x="5595990" y="63681"/>
                  <a:pt x="5415686" y="45719"/>
                </a:cubicBezTo>
                <a:cubicBezTo>
                  <a:pt x="5235382" y="27757"/>
                  <a:pt x="5001384" y="65626"/>
                  <a:pt x="4874118" y="45719"/>
                </a:cubicBezTo>
                <a:cubicBezTo>
                  <a:pt x="4746852" y="25812"/>
                  <a:pt x="4590972" y="51940"/>
                  <a:pt x="4400245" y="45719"/>
                </a:cubicBezTo>
                <a:cubicBezTo>
                  <a:pt x="4209518" y="39498"/>
                  <a:pt x="4160521" y="34858"/>
                  <a:pt x="3926373" y="45719"/>
                </a:cubicBezTo>
                <a:cubicBezTo>
                  <a:pt x="3692225" y="56580"/>
                  <a:pt x="3448064" y="49928"/>
                  <a:pt x="3181716" y="45719"/>
                </a:cubicBezTo>
                <a:cubicBezTo>
                  <a:pt x="2915368" y="41510"/>
                  <a:pt x="2829106" y="37464"/>
                  <a:pt x="2707843" y="45719"/>
                </a:cubicBezTo>
                <a:cubicBezTo>
                  <a:pt x="2586580" y="53974"/>
                  <a:pt x="2331104" y="47454"/>
                  <a:pt x="2030882" y="45719"/>
                </a:cubicBezTo>
                <a:cubicBezTo>
                  <a:pt x="1730660" y="43984"/>
                  <a:pt x="1651675" y="27858"/>
                  <a:pt x="1489314" y="45719"/>
                </a:cubicBezTo>
                <a:cubicBezTo>
                  <a:pt x="1326953" y="63580"/>
                  <a:pt x="973718" y="25531"/>
                  <a:pt x="812353" y="45719"/>
                </a:cubicBezTo>
                <a:cubicBezTo>
                  <a:pt x="650988" y="65907"/>
                  <a:pt x="303021" y="57521"/>
                  <a:pt x="0" y="45719"/>
                </a:cubicBezTo>
                <a:cubicBezTo>
                  <a:pt x="2258" y="31131"/>
                  <a:pt x="2017" y="19611"/>
                  <a:pt x="0" y="0"/>
                </a:cubicBezTo>
                <a:close/>
              </a:path>
              <a:path w="6769608" h="45719" stroke="0" extrusionOk="0">
                <a:moveTo>
                  <a:pt x="0" y="0"/>
                </a:moveTo>
                <a:cubicBezTo>
                  <a:pt x="210805" y="-30211"/>
                  <a:pt x="312098" y="29212"/>
                  <a:pt x="609265" y="0"/>
                </a:cubicBezTo>
                <a:cubicBezTo>
                  <a:pt x="906433" y="-29212"/>
                  <a:pt x="918805" y="21315"/>
                  <a:pt x="1083137" y="0"/>
                </a:cubicBezTo>
                <a:cubicBezTo>
                  <a:pt x="1247469" y="-21315"/>
                  <a:pt x="1725382" y="15381"/>
                  <a:pt x="1895490" y="0"/>
                </a:cubicBezTo>
                <a:cubicBezTo>
                  <a:pt x="2065598" y="-15381"/>
                  <a:pt x="2325077" y="-2788"/>
                  <a:pt x="2504755" y="0"/>
                </a:cubicBezTo>
                <a:cubicBezTo>
                  <a:pt x="2684434" y="2788"/>
                  <a:pt x="2809474" y="5633"/>
                  <a:pt x="3114020" y="0"/>
                </a:cubicBezTo>
                <a:cubicBezTo>
                  <a:pt x="3418567" y="-5633"/>
                  <a:pt x="3602048" y="38067"/>
                  <a:pt x="3926373" y="0"/>
                </a:cubicBezTo>
                <a:cubicBezTo>
                  <a:pt x="4250698" y="-38067"/>
                  <a:pt x="4306755" y="-4207"/>
                  <a:pt x="4467941" y="0"/>
                </a:cubicBezTo>
                <a:cubicBezTo>
                  <a:pt x="4629127" y="4207"/>
                  <a:pt x="4938440" y="31846"/>
                  <a:pt x="5280294" y="0"/>
                </a:cubicBezTo>
                <a:cubicBezTo>
                  <a:pt x="5622148" y="-31846"/>
                  <a:pt x="5702169" y="39065"/>
                  <a:pt x="6092647" y="0"/>
                </a:cubicBezTo>
                <a:cubicBezTo>
                  <a:pt x="6483125" y="-39065"/>
                  <a:pt x="6571287" y="7725"/>
                  <a:pt x="6769608" y="0"/>
                </a:cubicBezTo>
                <a:cubicBezTo>
                  <a:pt x="6767884" y="20889"/>
                  <a:pt x="6771718" y="23290"/>
                  <a:pt x="6769608" y="45719"/>
                </a:cubicBezTo>
                <a:cubicBezTo>
                  <a:pt x="6523287" y="44715"/>
                  <a:pt x="6342335" y="11265"/>
                  <a:pt x="6024951" y="45719"/>
                </a:cubicBezTo>
                <a:cubicBezTo>
                  <a:pt x="5707567" y="80173"/>
                  <a:pt x="5532086" y="5602"/>
                  <a:pt x="5212598" y="45719"/>
                </a:cubicBezTo>
                <a:cubicBezTo>
                  <a:pt x="4893110" y="85836"/>
                  <a:pt x="4673197" y="78552"/>
                  <a:pt x="4400245" y="45719"/>
                </a:cubicBezTo>
                <a:cubicBezTo>
                  <a:pt x="4127293" y="12886"/>
                  <a:pt x="4054108" y="34724"/>
                  <a:pt x="3858677" y="45719"/>
                </a:cubicBezTo>
                <a:cubicBezTo>
                  <a:pt x="3663246" y="56714"/>
                  <a:pt x="3478136" y="55270"/>
                  <a:pt x="3181716" y="45719"/>
                </a:cubicBezTo>
                <a:cubicBezTo>
                  <a:pt x="2885296" y="36168"/>
                  <a:pt x="2600300" y="57868"/>
                  <a:pt x="2369363" y="45719"/>
                </a:cubicBezTo>
                <a:cubicBezTo>
                  <a:pt x="2138426" y="33570"/>
                  <a:pt x="1896157" y="31306"/>
                  <a:pt x="1692402" y="45719"/>
                </a:cubicBezTo>
                <a:cubicBezTo>
                  <a:pt x="1488647" y="60132"/>
                  <a:pt x="1328363" y="65501"/>
                  <a:pt x="1218529" y="45719"/>
                </a:cubicBezTo>
                <a:cubicBezTo>
                  <a:pt x="1108695" y="25937"/>
                  <a:pt x="905435" y="72718"/>
                  <a:pt x="676961" y="45719"/>
                </a:cubicBezTo>
                <a:cubicBezTo>
                  <a:pt x="448487" y="18720"/>
                  <a:pt x="286513" y="53033"/>
                  <a:pt x="0" y="45719"/>
                </a:cubicBezTo>
                <a:cubicBezTo>
                  <a:pt x="661" y="28309"/>
                  <a:pt x="-1934" y="197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49843C4F-10A2-411C-79F7-23F9D3B4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99872" y="4502867"/>
            <a:ext cx="6650736" cy="45719"/>
          </a:xfrm>
          <a:custGeom>
            <a:avLst/>
            <a:gdLst>
              <a:gd name="csX0" fmla="*/ 0 w 6650736"/>
              <a:gd name="csY0" fmla="*/ 0 h 45719"/>
              <a:gd name="csX1" fmla="*/ 665074 w 6650736"/>
              <a:gd name="csY1" fmla="*/ 0 h 45719"/>
              <a:gd name="csX2" fmla="*/ 1330147 w 6650736"/>
              <a:gd name="csY2" fmla="*/ 0 h 45719"/>
              <a:gd name="csX3" fmla="*/ 1995221 w 6650736"/>
              <a:gd name="csY3" fmla="*/ 0 h 45719"/>
              <a:gd name="csX4" fmla="*/ 2793309 w 6650736"/>
              <a:gd name="csY4" fmla="*/ 0 h 45719"/>
              <a:gd name="csX5" fmla="*/ 3524890 w 6650736"/>
              <a:gd name="csY5" fmla="*/ 0 h 45719"/>
              <a:gd name="csX6" fmla="*/ 3990442 w 6650736"/>
              <a:gd name="csY6" fmla="*/ 0 h 45719"/>
              <a:gd name="csX7" fmla="*/ 4589008 w 6650736"/>
              <a:gd name="csY7" fmla="*/ 0 h 45719"/>
              <a:gd name="csX8" fmla="*/ 5387096 w 6650736"/>
              <a:gd name="csY8" fmla="*/ 0 h 45719"/>
              <a:gd name="csX9" fmla="*/ 6052170 w 6650736"/>
              <a:gd name="csY9" fmla="*/ 0 h 45719"/>
              <a:gd name="csX10" fmla="*/ 6650736 w 6650736"/>
              <a:gd name="csY10" fmla="*/ 0 h 45719"/>
              <a:gd name="csX11" fmla="*/ 6650736 w 6650736"/>
              <a:gd name="csY11" fmla="*/ 45719 h 45719"/>
              <a:gd name="csX12" fmla="*/ 6118677 w 6650736"/>
              <a:gd name="csY12" fmla="*/ 45719 h 45719"/>
              <a:gd name="csX13" fmla="*/ 5320589 w 6650736"/>
              <a:gd name="csY13" fmla="*/ 45719 h 45719"/>
              <a:gd name="csX14" fmla="*/ 4788530 w 6650736"/>
              <a:gd name="csY14" fmla="*/ 45719 h 45719"/>
              <a:gd name="csX15" fmla="*/ 4322978 w 6650736"/>
              <a:gd name="csY15" fmla="*/ 45719 h 45719"/>
              <a:gd name="csX16" fmla="*/ 3857427 w 6650736"/>
              <a:gd name="csY16" fmla="*/ 45719 h 45719"/>
              <a:gd name="csX17" fmla="*/ 3125846 w 6650736"/>
              <a:gd name="csY17" fmla="*/ 45719 h 45719"/>
              <a:gd name="csX18" fmla="*/ 2660294 w 6650736"/>
              <a:gd name="csY18" fmla="*/ 45719 h 45719"/>
              <a:gd name="csX19" fmla="*/ 1995221 w 6650736"/>
              <a:gd name="csY19" fmla="*/ 45719 h 45719"/>
              <a:gd name="csX20" fmla="*/ 1463162 w 6650736"/>
              <a:gd name="csY20" fmla="*/ 45719 h 45719"/>
              <a:gd name="csX21" fmla="*/ 798088 w 6650736"/>
              <a:gd name="csY21" fmla="*/ 45719 h 45719"/>
              <a:gd name="csX22" fmla="*/ 0 w 6650736"/>
              <a:gd name="csY22" fmla="*/ 45719 h 45719"/>
              <a:gd name="csX23" fmla="*/ 0 w 6650736"/>
              <a:gd name="csY23" fmla="*/ 0 h 45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650736" h="45719" fill="none" extrusionOk="0">
                <a:moveTo>
                  <a:pt x="0" y="0"/>
                </a:moveTo>
                <a:cubicBezTo>
                  <a:pt x="285561" y="1591"/>
                  <a:pt x="439593" y="-10022"/>
                  <a:pt x="665074" y="0"/>
                </a:cubicBezTo>
                <a:cubicBezTo>
                  <a:pt x="890555" y="10022"/>
                  <a:pt x="1127381" y="-335"/>
                  <a:pt x="1330147" y="0"/>
                </a:cubicBezTo>
                <a:cubicBezTo>
                  <a:pt x="1532913" y="335"/>
                  <a:pt x="1788457" y="22825"/>
                  <a:pt x="1995221" y="0"/>
                </a:cubicBezTo>
                <a:cubicBezTo>
                  <a:pt x="2201985" y="-22825"/>
                  <a:pt x="2526949" y="33838"/>
                  <a:pt x="2793309" y="0"/>
                </a:cubicBezTo>
                <a:cubicBezTo>
                  <a:pt x="3059669" y="-33838"/>
                  <a:pt x="3236472" y="-12009"/>
                  <a:pt x="3524890" y="0"/>
                </a:cubicBezTo>
                <a:cubicBezTo>
                  <a:pt x="3813308" y="12009"/>
                  <a:pt x="3806151" y="-13249"/>
                  <a:pt x="3990442" y="0"/>
                </a:cubicBezTo>
                <a:cubicBezTo>
                  <a:pt x="4174733" y="13249"/>
                  <a:pt x="4320783" y="-680"/>
                  <a:pt x="4589008" y="0"/>
                </a:cubicBezTo>
                <a:cubicBezTo>
                  <a:pt x="4857233" y="680"/>
                  <a:pt x="5039291" y="29720"/>
                  <a:pt x="5387096" y="0"/>
                </a:cubicBezTo>
                <a:cubicBezTo>
                  <a:pt x="5734901" y="-29720"/>
                  <a:pt x="5803689" y="-9220"/>
                  <a:pt x="6052170" y="0"/>
                </a:cubicBezTo>
                <a:cubicBezTo>
                  <a:pt x="6300651" y="9220"/>
                  <a:pt x="6416330" y="-21758"/>
                  <a:pt x="6650736" y="0"/>
                </a:cubicBezTo>
                <a:cubicBezTo>
                  <a:pt x="6652741" y="9458"/>
                  <a:pt x="6649568" y="33623"/>
                  <a:pt x="6650736" y="45719"/>
                </a:cubicBezTo>
                <a:cubicBezTo>
                  <a:pt x="6479183" y="39389"/>
                  <a:pt x="6286386" y="24148"/>
                  <a:pt x="6118677" y="45719"/>
                </a:cubicBezTo>
                <a:cubicBezTo>
                  <a:pt x="5950968" y="67290"/>
                  <a:pt x="5699875" y="43616"/>
                  <a:pt x="5320589" y="45719"/>
                </a:cubicBezTo>
                <a:cubicBezTo>
                  <a:pt x="4941303" y="47822"/>
                  <a:pt x="4966560" y="60635"/>
                  <a:pt x="4788530" y="45719"/>
                </a:cubicBezTo>
                <a:cubicBezTo>
                  <a:pt x="4610500" y="30803"/>
                  <a:pt x="4476687" y="52452"/>
                  <a:pt x="4322978" y="45719"/>
                </a:cubicBezTo>
                <a:cubicBezTo>
                  <a:pt x="4169269" y="38986"/>
                  <a:pt x="3998147" y="64120"/>
                  <a:pt x="3857427" y="45719"/>
                </a:cubicBezTo>
                <a:cubicBezTo>
                  <a:pt x="3716707" y="27318"/>
                  <a:pt x="3467901" y="82014"/>
                  <a:pt x="3125846" y="45719"/>
                </a:cubicBezTo>
                <a:cubicBezTo>
                  <a:pt x="2783791" y="9424"/>
                  <a:pt x="2809772" y="45114"/>
                  <a:pt x="2660294" y="45719"/>
                </a:cubicBezTo>
                <a:cubicBezTo>
                  <a:pt x="2510816" y="46324"/>
                  <a:pt x="2326313" y="31086"/>
                  <a:pt x="1995221" y="45719"/>
                </a:cubicBezTo>
                <a:cubicBezTo>
                  <a:pt x="1664129" y="60352"/>
                  <a:pt x="1605438" y="23797"/>
                  <a:pt x="1463162" y="45719"/>
                </a:cubicBezTo>
                <a:cubicBezTo>
                  <a:pt x="1320886" y="67641"/>
                  <a:pt x="1125030" y="13776"/>
                  <a:pt x="798088" y="45719"/>
                </a:cubicBezTo>
                <a:cubicBezTo>
                  <a:pt x="471146" y="77662"/>
                  <a:pt x="239915" y="51755"/>
                  <a:pt x="0" y="45719"/>
                </a:cubicBezTo>
                <a:cubicBezTo>
                  <a:pt x="2258" y="31131"/>
                  <a:pt x="2017" y="19611"/>
                  <a:pt x="0" y="0"/>
                </a:cubicBezTo>
                <a:close/>
              </a:path>
              <a:path w="6650736" h="45719" stroke="0" extrusionOk="0">
                <a:moveTo>
                  <a:pt x="0" y="0"/>
                </a:moveTo>
                <a:cubicBezTo>
                  <a:pt x="210440" y="22099"/>
                  <a:pt x="353245" y="-7378"/>
                  <a:pt x="598566" y="0"/>
                </a:cubicBezTo>
                <a:cubicBezTo>
                  <a:pt x="843887" y="7378"/>
                  <a:pt x="955413" y="19632"/>
                  <a:pt x="1064118" y="0"/>
                </a:cubicBezTo>
                <a:cubicBezTo>
                  <a:pt x="1172823" y="-19632"/>
                  <a:pt x="1519194" y="13782"/>
                  <a:pt x="1862206" y="0"/>
                </a:cubicBezTo>
                <a:cubicBezTo>
                  <a:pt x="2205218" y="-13782"/>
                  <a:pt x="2175944" y="5410"/>
                  <a:pt x="2460772" y="0"/>
                </a:cubicBezTo>
                <a:cubicBezTo>
                  <a:pt x="2745600" y="-5410"/>
                  <a:pt x="2916730" y="-28185"/>
                  <a:pt x="3059339" y="0"/>
                </a:cubicBezTo>
                <a:cubicBezTo>
                  <a:pt x="3201948" y="28185"/>
                  <a:pt x="3496384" y="-31115"/>
                  <a:pt x="3857427" y="0"/>
                </a:cubicBezTo>
                <a:cubicBezTo>
                  <a:pt x="4218470" y="31115"/>
                  <a:pt x="4202040" y="25124"/>
                  <a:pt x="4389486" y="0"/>
                </a:cubicBezTo>
                <a:cubicBezTo>
                  <a:pt x="4576932" y="-25124"/>
                  <a:pt x="4822538" y="-32383"/>
                  <a:pt x="5187574" y="0"/>
                </a:cubicBezTo>
                <a:cubicBezTo>
                  <a:pt x="5552610" y="32383"/>
                  <a:pt x="5718027" y="-29272"/>
                  <a:pt x="5985662" y="0"/>
                </a:cubicBezTo>
                <a:cubicBezTo>
                  <a:pt x="6253297" y="29272"/>
                  <a:pt x="6376537" y="-21249"/>
                  <a:pt x="6650736" y="0"/>
                </a:cubicBezTo>
                <a:cubicBezTo>
                  <a:pt x="6649012" y="20889"/>
                  <a:pt x="6652846" y="23290"/>
                  <a:pt x="6650736" y="45719"/>
                </a:cubicBezTo>
                <a:cubicBezTo>
                  <a:pt x="6318271" y="75638"/>
                  <a:pt x="6089440" y="40932"/>
                  <a:pt x="5919155" y="45719"/>
                </a:cubicBezTo>
                <a:cubicBezTo>
                  <a:pt x="5748870" y="50506"/>
                  <a:pt x="5510077" y="78809"/>
                  <a:pt x="5121067" y="45719"/>
                </a:cubicBezTo>
                <a:cubicBezTo>
                  <a:pt x="4732057" y="12629"/>
                  <a:pt x="4625177" y="33352"/>
                  <a:pt x="4322978" y="45719"/>
                </a:cubicBezTo>
                <a:cubicBezTo>
                  <a:pt x="4020779" y="58086"/>
                  <a:pt x="3916991" y="37132"/>
                  <a:pt x="3790920" y="45719"/>
                </a:cubicBezTo>
                <a:cubicBezTo>
                  <a:pt x="3664849" y="54306"/>
                  <a:pt x="3404524" y="30051"/>
                  <a:pt x="3125846" y="45719"/>
                </a:cubicBezTo>
                <a:cubicBezTo>
                  <a:pt x="2847168" y="61387"/>
                  <a:pt x="2703203" y="50287"/>
                  <a:pt x="2327758" y="45719"/>
                </a:cubicBezTo>
                <a:cubicBezTo>
                  <a:pt x="1952313" y="41151"/>
                  <a:pt x="1926090" y="15866"/>
                  <a:pt x="1662684" y="45719"/>
                </a:cubicBezTo>
                <a:cubicBezTo>
                  <a:pt x="1399278" y="75572"/>
                  <a:pt x="1347040" y="33842"/>
                  <a:pt x="1197132" y="45719"/>
                </a:cubicBezTo>
                <a:cubicBezTo>
                  <a:pt x="1047224" y="57596"/>
                  <a:pt x="917525" y="71988"/>
                  <a:pt x="665074" y="45719"/>
                </a:cubicBezTo>
                <a:cubicBezTo>
                  <a:pt x="412623" y="19450"/>
                  <a:pt x="237752" y="23484"/>
                  <a:pt x="0" y="45719"/>
                </a:cubicBezTo>
                <a:cubicBezTo>
                  <a:pt x="661" y="28309"/>
                  <a:pt x="-1934" y="197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01C42DB-92CF-989D-0B5F-A1789BD73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864" y="178791"/>
            <a:ext cx="2911770" cy="3996315"/>
          </a:xfrm>
          <a:prstGeom prst="rect">
            <a:avLst/>
          </a:prstGeom>
        </p:spPr>
      </p:pic>
      <p:pic>
        <p:nvPicPr>
          <p:cNvPr id="12" name="Immagine 11" descr="Figma Logo and symbol, meaning, history, PNG, brand">
            <a:extLst>
              <a:ext uri="{FF2B5EF4-FFF2-40B4-BE49-F238E27FC236}">
                <a16:creationId xmlns:a16="http://schemas.microsoft.com/office/drawing/2014/main" id="{1A84B517-2658-D47A-2812-04DC374D1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117" y="4361440"/>
            <a:ext cx="3213517" cy="180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3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33604B6-9F7C-4494-DC22-A966888C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it-IT" sz="5400" dirty="0"/>
              <a:t>Framework scelti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E327B6-0246-D362-20D8-1DF78DE1F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sz="2000"/>
              <a:t>Database scelto, nonché già presente in azienda, SQL Server.</a:t>
            </a:r>
          </a:p>
          <a:p>
            <a:r>
              <a:rPr lang="it-IT" sz="2000"/>
              <a:t>Back end base .NET con l’utilizzo di EF Core</a:t>
            </a:r>
          </a:p>
          <a:p>
            <a:r>
              <a:rPr lang="it-IT" sz="2000"/>
              <a:t>Front end cross-platform con .NET MAUI</a:t>
            </a:r>
          </a:p>
          <a:p>
            <a:r>
              <a:rPr lang="it-IT" sz="2000"/>
              <a:t>Interfacce grafiche scritte mediante componenti</a:t>
            </a:r>
            <a:br>
              <a:rPr lang="it-IT" sz="2000"/>
            </a:br>
            <a:r>
              <a:rPr lang="it-IT" sz="2000"/>
              <a:t>Microsoft MAUI toolkit.</a:t>
            </a:r>
          </a:p>
        </p:txBody>
      </p:sp>
      <p:pic>
        <p:nvPicPr>
          <p:cNvPr id="6" name="Immagine 5" descr=".NET Application Consulting | Keyhole Software">
            <a:extLst>
              <a:ext uri="{FF2B5EF4-FFF2-40B4-BE49-F238E27FC236}">
                <a16:creationId xmlns:a16="http://schemas.microsoft.com/office/drawing/2014/main" id="{C1FE4AC1-0127-1BB8-DB16-AA38A7BB2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42900"/>
            <a:ext cx="3099816" cy="3099816"/>
          </a:xfrm>
          <a:prstGeom prst="rect">
            <a:avLst/>
          </a:prstGeom>
        </p:spPr>
      </p:pic>
      <p:pic>
        <p:nvPicPr>
          <p:cNvPr id="5" name="Immagine 4" descr="SQL Server 2025: Built-in AI, Native JSON, and What's New">
            <a:extLst>
              <a:ext uri="{FF2B5EF4-FFF2-40B4-BE49-F238E27FC236}">
                <a16:creationId xmlns:a16="http://schemas.microsoft.com/office/drawing/2014/main" id="{918AB919-6270-20AB-7346-6C6262BAE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619920"/>
            <a:ext cx="3785616" cy="1731919"/>
          </a:xfrm>
          <a:prstGeom prst="rect">
            <a:avLst/>
          </a:prstGeom>
        </p:spPr>
      </p:pic>
      <p:pic>
        <p:nvPicPr>
          <p:cNvPr id="7" name="Immagine 6" descr="Entity Framework Core – Database first – jenx.si">
            <a:extLst>
              <a:ext uri="{FF2B5EF4-FFF2-40B4-BE49-F238E27FC236}">
                <a16:creationId xmlns:a16="http://schemas.microsoft.com/office/drawing/2014/main" id="{D31DCFC7-F5A7-F41A-FFCD-E016453F7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4052975"/>
            <a:ext cx="3099816" cy="1883137"/>
          </a:xfrm>
          <a:prstGeom prst="rect">
            <a:avLst/>
          </a:prstGeom>
        </p:spPr>
      </p:pic>
      <p:pic>
        <p:nvPicPr>
          <p:cNvPr id="4" name="Immagine 3" descr="Microsoft .NET SVG Icon - Free Download | Official Logo SVG | theSVG ...">
            <a:extLst>
              <a:ext uri="{FF2B5EF4-FFF2-40B4-BE49-F238E27FC236}">
                <a16:creationId xmlns:a16="http://schemas.microsoft.com/office/drawing/2014/main" id="{6AA95384-7DA9-71BF-90DD-D64C354FE4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792" y="2971759"/>
            <a:ext cx="3221807" cy="32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63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9623637-6F9F-635B-9899-6231BDE3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27572" y="222374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 err="1"/>
              <a:t>Diagramma</a:t>
            </a:r>
            <a:r>
              <a:rPr lang="en-US" sz="4800" dirty="0"/>
              <a:t> deployment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418" y="13502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A965A1F-EE09-23EB-397C-63EEBB924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15" y="63881"/>
            <a:ext cx="4450020" cy="360578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337F9E6-131D-86DB-B088-E29261554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655" y="3598235"/>
            <a:ext cx="5614416" cy="3130036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9022145A-6E42-883F-1152-468F28A6C073}"/>
              </a:ext>
            </a:extLst>
          </p:cNvPr>
          <p:cNvSpPr txBox="1">
            <a:spLocks/>
          </p:cNvSpPr>
          <p:nvPr/>
        </p:nvSpPr>
        <p:spPr>
          <a:xfrm>
            <a:off x="-2755272" y="3428966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err="1"/>
              <a:t>Diagramma</a:t>
            </a:r>
            <a:r>
              <a:rPr lang="en-US" sz="4800" dirty="0"/>
              <a:t> package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7F1C818B-744F-1FA9-56F7-B03800F4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418" y="4472102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4C318A7-7874-F9E8-34B3-DAC2E330DDDA}"/>
              </a:ext>
            </a:extLst>
          </p:cNvPr>
          <p:cNvSpPr txBox="1"/>
          <p:nvPr/>
        </p:nvSpPr>
        <p:spPr>
          <a:xfrm>
            <a:off x="232418" y="1517543"/>
            <a:ext cx="55955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Uso della LAN locale supportata da Active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Connessione mediante </a:t>
            </a:r>
            <a:r>
              <a:rPr lang="it-IT" dirty="0" err="1"/>
              <a:t>TCP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 esterni alla LAN connessione mediante VPN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Software installati localmente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Previsto database locale </a:t>
            </a:r>
            <a:r>
              <a:rPr lang="it-IT" dirty="0" err="1"/>
              <a:t>SQLite</a:t>
            </a:r>
            <a:r>
              <a:rPr lang="it-IT" dirty="0"/>
              <a:t> per gestione offline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BEF7D56-14B3-0F3D-A990-05C3F09C1CC4}"/>
              </a:ext>
            </a:extLst>
          </p:cNvPr>
          <p:cNvSpPr txBox="1"/>
          <p:nvPr/>
        </p:nvSpPr>
        <p:spPr>
          <a:xfrm>
            <a:off x="295332" y="4797580"/>
            <a:ext cx="48084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Package utilizzati dell’ecosistema .NET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Aggiunti mediante NuGet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Creati tre package distinti per la gestione di: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View e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programm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Interazione col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Libreria di componenti per le </a:t>
            </a:r>
            <a:r>
              <a:rPr lang="it-IT" dirty="0" err="1"/>
              <a:t>view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9889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C1CF9C-F841-44AC-6DD2-61FC3AD3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384926"/>
            <a:ext cx="10515600" cy="1325563"/>
          </a:xfrm>
        </p:spPr>
        <p:txBody>
          <a:bodyPr>
            <a:normAutofit/>
          </a:bodyPr>
          <a:lstStyle/>
          <a:p>
            <a:r>
              <a:rPr lang="it-IT" sz="5400"/>
              <a:t>Progettazione database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A1460C-748D-043D-06F3-42BB287A5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it-IT" sz="2200"/>
              <a:t>Importazione da Access mediante SSMA</a:t>
            </a:r>
          </a:p>
          <a:p>
            <a:r>
              <a:rPr lang="it-IT" sz="2200"/>
              <a:t>Ristrutturazione, normalizzazione, modifiche tramite SSIS.</a:t>
            </a:r>
          </a:p>
          <a:p>
            <a:r>
              <a:rPr lang="it-IT" sz="2200"/>
              <a:t>Unificato tabelle simili e differenziate mediante appositi Lookup</a:t>
            </a:r>
          </a:p>
          <a:p>
            <a:r>
              <a:rPr lang="it-IT" sz="2200"/>
              <a:t>Replicate strutture di database da cui si deve importare dati</a:t>
            </a:r>
          </a:p>
          <a:p>
            <a:r>
              <a:rPr lang="it-IT" sz="2200"/>
              <a:t>Generate tabelle e trigger di backup</a:t>
            </a:r>
          </a:p>
          <a:p>
            <a:r>
              <a:rPr lang="it-IT" sz="2200"/>
              <a:t>Generate stored procedure di import dati.</a:t>
            </a:r>
          </a:p>
        </p:txBody>
      </p:sp>
      <p:pic>
        <p:nvPicPr>
          <p:cNvPr id="4" name="Immagine 3" descr="SSIS Extension Updates – Apr 2026 – AndyLeonard.blog()">
            <a:extLst>
              <a:ext uri="{FF2B5EF4-FFF2-40B4-BE49-F238E27FC236}">
                <a16:creationId xmlns:a16="http://schemas.microsoft.com/office/drawing/2014/main" id="{03F09F59-7F92-2157-400A-F15420125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076" y="2095415"/>
            <a:ext cx="1219200" cy="12192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C8363CD-8E3E-C564-3BC7-73F0001E2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34" y="3668856"/>
            <a:ext cx="5668964" cy="274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37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A35E18-9BF4-93D1-67E4-6F232152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Progettazione model	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ACF8CDA2-8526-AF27-9839-4BB1D949735E}"/>
              </a:ext>
            </a:extLst>
          </p:cNvPr>
          <p:cNvSpPr txBox="1">
            <a:spLocks/>
          </p:cNvSpPr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err="1"/>
              <a:t>Utilizzato</a:t>
            </a:r>
            <a:r>
              <a:rPr lang="en-US" sz="2200" dirty="0"/>
              <a:t> EF Core per </a:t>
            </a:r>
            <a:r>
              <a:rPr lang="en-US" sz="2200" dirty="0" err="1"/>
              <a:t>mappare</a:t>
            </a:r>
            <a:r>
              <a:rPr lang="en-US" sz="2200" dirty="0"/>
              <a:t> il database in entity</a:t>
            </a:r>
          </a:p>
          <a:p>
            <a:r>
              <a:rPr lang="en-US" sz="2200" dirty="0" err="1"/>
              <a:t>Mappate</a:t>
            </a:r>
            <a:r>
              <a:rPr lang="en-US" sz="2200" dirty="0"/>
              <a:t> in </a:t>
            </a:r>
            <a:r>
              <a:rPr lang="en-US" sz="2200" dirty="0" err="1"/>
              <a:t>classi</a:t>
            </a:r>
            <a:r>
              <a:rPr lang="en-US" sz="2200" dirty="0"/>
              <a:t> </a:t>
            </a:r>
            <a:r>
              <a:rPr lang="en-US" sz="2200" dirty="0" err="1"/>
              <a:t>neutre</a:t>
            </a:r>
            <a:r>
              <a:rPr lang="en-US" sz="2200" dirty="0"/>
              <a:t> </a:t>
            </a:r>
            <a:r>
              <a:rPr lang="en-US" sz="2200" dirty="0" err="1"/>
              <a:t>dette</a:t>
            </a:r>
            <a:r>
              <a:rPr lang="en-US" sz="2200" dirty="0"/>
              <a:t> DTO, </a:t>
            </a:r>
            <a:r>
              <a:rPr lang="en-US" sz="2200" dirty="0" err="1"/>
              <a:t>mediante</a:t>
            </a:r>
            <a:r>
              <a:rPr lang="en-US" sz="2200" dirty="0"/>
              <a:t> NuGet </a:t>
            </a:r>
            <a:r>
              <a:rPr lang="en-US" sz="2200" dirty="0" err="1"/>
              <a:t>Mapster</a:t>
            </a:r>
            <a:endParaRPr lang="en-US" sz="2200" dirty="0"/>
          </a:p>
          <a:p>
            <a:r>
              <a:rPr lang="en-US" sz="2200" dirty="0" err="1"/>
              <a:t>Creati</a:t>
            </a:r>
            <a:r>
              <a:rPr lang="en-US" sz="2200" dirty="0"/>
              <a:t> Repository per </a:t>
            </a:r>
            <a:r>
              <a:rPr lang="en-US" sz="2200" dirty="0" err="1"/>
              <a:t>gestire</a:t>
            </a:r>
            <a:r>
              <a:rPr lang="en-US" sz="2200" dirty="0"/>
              <a:t> il database e </a:t>
            </a:r>
            <a:r>
              <a:rPr lang="en-US" sz="2200" dirty="0" err="1"/>
              <a:t>relativi</a:t>
            </a:r>
            <a:r>
              <a:rPr lang="en-US" sz="2200" dirty="0"/>
              <a:t> test di </a:t>
            </a:r>
            <a:r>
              <a:rPr lang="en-US" sz="2200" dirty="0" err="1"/>
              <a:t>validazione</a:t>
            </a:r>
            <a:endParaRPr lang="en-US" sz="2200" dirty="0"/>
          </a:p>
          <a:p>
            <a:r>
              <a:rPr lang="en-US" sz="2200" dirty="0"/>
              <a:t>Esposto </a:t>
            </a:r>
            <a:r>
              <a:rPr lang="en-US" sz="2200" dirty="0" err="1"/>
              <a:t>all’esterno</a:t>
            </a:r>
            <a:r>
              <a:rPr lang="en-US" sz="2200" dirty="0"/>
              <a:t> solo </a:t>
            </a:r>
            <a:r>
              <a:rPr lang="en-US" sz="2200" dirty="0" err="1"/>
              <a:t>l’interfaccia</a:t>
            </a:r>
            <a:r>
              <a:rPr lang="en-US" sz="2200" dirty="0"/>
              <a:t> </a:t>
            </a:r>
            <a:r>
              <a:rPr lang="en-US" sz="2200" dirty="0" err="1"/>
              <a:t>DbManager</a:t>
            </a:r>
            <a:endParaRPr lang="en-US" sz="2200" dirty="0"/>
          </a:p>
          <a:p>
            <a:r>
              <a:rPr lang="en-US" sz="2200" dirty="0"/>
              <a:t>Query </a:t>
            </a:r>
            <a:r>
              <a:rPr lang="en-US" sz="2200" dirty="0" err="1"/>
              <a:t>scritte</a:t>
            </a:r>
            <a:r>
              <a:rPr lang="en-US" sz="2200" dirty="0"/>
              <a:t> </a:t>
            </a:r>
            <a:r>
              <a:rPr lang="en-US" sz="2200" dirty="0" err="1"/>
              <a:t>mediante</a:t>
            </a:r>
            <a:r>
              <a:rPr lang="en-US" sz="2200" dirty="0"/>
              <a:t> LINQ.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D7344B-3360-18D7-C587-10EBCCAFC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75" y="4582405"/>
            <a:ext cx="6523285" cy="11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47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65A1-DA0E-1220-9619-58139CB6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F0BAEF04-0170-ED0A-F4C0-10025E48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it-IT" sz="5400" dirty="0"/>
              <a:t>Progettazione View	</a:t>
            </a:r>
            <a:br>
              <a:rPr lang="it-IT" sz="5400" dirty="0"/>
            </a:br>
            <a:endParaRPr lang="it-IT" sz="5400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8A465B-70BA-60C7-1157-EA7D9D083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it-IT" sz="2200" dirty="0"/>
              <a:t>Prototipazione mediante </a:t>
            </a:r>
            <a:r>
              <a:rPr lang="it-IT" sz="2200" dirty="0" err="1"/>
              <a:t>Figma</a:t>
            </a:r>
            <a:endParaRPr lang="it-IT" sz="2200" dirty="0"/>
          </a:p>
          <a:p>
            <a:r>
              <a:rPr lang="it-IT" sz="2200" dirty="0"/>
              <a:t>Conversione in codice e creazione </a:t>
            </a:r>
            <a:r>
              <a:rPr lang="it-IT" sz="2200" dirty="0" err="1"/>
              <a:t>factory</a:t>
            </a:r>
            <a:br>
              <a:rPr lang="it-IT" sz="2200" dirty="0"/>
            </a:br>
            <a:r>
              <a:rPr lang="it-IT" sz="2200" dirty="0"/>
              <a:t> per gli elementi</a:t>
            </a:r>
          </a:p>
          <a:p>
            <a:r>
              <a:rPr lang="it-IT" sz="2200" dirty="0"/>
              <a:t>Validate interfacce tramite focus group</a:t>
            </a:r>
          </a:p>
          <a:p>
            <a:r>
              <a:rPr lang="it-IT" sz="2200" dirty="0"/>
              <a:t>Interfaccia col database mediante </a:t>
            </a:r>
            <a:r>
              <a:rPr lang="it-IT" sz="2200" dirty="0" err="1"/>
              <a:t>ViewModel</a:t>
            </a:r>
            <a:r>
              <a:rPr lang="it-IT" sz="2200" dirty="0"/>
              <a:t> secondo il modello MVVM.</a:t>
            </a:r>
          </a:p>
          <a:p>
            <a:r>
              <a:rPr lang="it-IT" sz="2200" dirty="0"/>
              <a:t>Uso della </a:t>
            </a:r>
            <a:r>
              <a:rPr lang="it-IT" sz="2200" dirty="0" err="1"/>
              <a:t>Dependency</a:t>
            </a:r>
            <a:r>
              <a:rPr lang="it-IT" sz="2200" dirty="0"/>
              <a:t> Injection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3E69A40-38B8-2E30-04F8-D1260EBD9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669299"/>
            <a:ext cx="4014216" cy="2749737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688FDB2-C48E-E346-3250-D6C52F266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4358154"/>
            <a:ext cx="3995928" cy="1618350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1773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262E07-1CD0-76F0-8D16-141342DF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Configuratore di prodotto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4CEF3E8-5B8C-7B7C-0062-7F1F15EDF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987" y="4470904"/>
            <a:ext cx="5615343" cy="2387096"/>
          </a:xfrm>
          <a:prstGeom prst="rect">
            <a:avLst/>
          </a:prstGeom>
        </p:spPr>
      </p:pic>
      <p:sp>
        <p:nvSpPr>
          <p:cNvPr id="7" name="sketch line">
            <a:extLst>
              <a:ext uri="{FF2B5EF4-FFF2-40B4-BE49-F238E27FC236}">
                <a16:creationId xmlns:a16="http://schemas.microsoft.com/office/drawing/2014/main" id="{4CE470A8-F040-6CBF-EEB9-9FC15D00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504" y="1649942"/>
            <a:ext cx="10919460" cy="45719"/>
          </a:xfrm>
          <a:custGeom>
            <a:avLst/>
            <a:gdLst>
              <a:gd name="csX0" fmla="*/ 0 w 10919460"/>
              <a:gd name="csY0" fmla="*/ 0 h 45719"/>
              <a:gd name="csX1" fmla="*/ 464077 w 10919460"/>
              <a:gd name="csY1" fmla="*/ 0 h 45719"/>
              <a:gd name="csX2" fmla="*/ 1146543 w 10919460"/>
              <a:gd name="csY2" fmla="*/ 0 h 45719"/>
              <a:gd name="csX3" fmla="*/ 1938204 w 10919460"/>
              <a:gd name="csY3" fmla="*/ 0 h 45719"/>
              <a:gd name="csX4" fmla="*/ 2293087 w 10919460"/>
              <a:gd name="csY4" fmla="*/ 0 h 45719"/>
              <a:gd name="csX5" fmla="*/ 2647969 w 10919460"/>
              <a:gd name="csY5" fmla="*/ 0 h 45719"/>
              <a:gd name="csX6" fmla="*/ 3548825 w 10919460"/>
              <a:gd name="csY6" fmla="*/ 0 h 45719"/>
              <a:gd name="csX7" fmla="*/ 4231291 w 10919460"/>
              <a:gd name="csY7" fmla="*/ 0 h 45719"/>
              <a:gd name="csX8" fmla="*/ 4586173 w 10919460"/>
              <a:gd name="csY8" fmla="*/ 0 h 45719"/>
              <a:gd name="csX9" fmla="*/ 5268639 w 10919460"/>
              <a:gd name="csY9" fmla="*/ 0 h 45719"/>
              <a:gd name="csX10" fmla="*/ 6169495 w 10919460"/>
              <a:gd name="csY10" fmla="*/ 0 h 45719"/>
              <a:gd name="csX11" fmla="*/ 6742767 w 10919460"/>
              <a:gd name="csY11" fmla="*/ 0 h 45719"/>
              <a:gd name="csX12" fmla="*/ 7316038 w 10919460"/>
              <a:gd name="csY12" fmla="*/ 0 h 45719"/>
              <a:gd name="csX13" fmla="*/ 7998504 w 10919460"/>
              <a:gd name="csY13" fmla="*/ 0 h 45719"/>
              <a:gd name="csX14" fmla="*/ 8790165 w 10919460"/>
              <a:gd name="csY14" fmla="*/ 0 h 45719"/>
              <a:gd name="csX15" fmla="*/ 9581826 w 10919460"/>
              <a:gd name="csY15" fmla="*/ 0 h 45719"/>
              <a:gd name="csX16" fmla="*/ 10919460 w 10919460"/>
              <a:gd name="csY16" fmla="*/ 0 h 45719"/>
              <a:gd name="csX17" fmla="*/ 10919460 w 10919460"/>
              <a:gd name="csY17" fmla="*/ 45719 h 45719"/>
              <a:gd name="csX18" fmla="*/ 10455383 w 10919460"/>
              <a:gd name="csY18" fmla="*/ 45719 h 45719"/>
              <a:gd name="csX19" fmla="*/ 9554528 w 10919460"/>
              <a:gd name="csY19" fmla="*/ 45719 h 45719"/>
              <a:gd name="csX20" fmla="*/ 8872061 w 10919460"/>
              <a:gd name="csY20" fmla="*/ 45719 h 45719"/>
              <a:gd name="csX21" fmla="*/ 8517179 w 10919460"/>
              <a:gd name="csY21" fmla="*/ 45719 h 45719"/>
              <a:gd name="csX22" fmla="*/ 7834713 w 10919460"/>
              <a:gd name="csY22" fmla="*/ 45719 h 45719"/>
              <a:gd name="csX23" fmla="*/ 7261441 w 10919460"/>
              <a:gd name="csY23" fmla="*/ 45719 h 45719"/>
              <a:gd name="csX24" fmla="*/ 6688169 w 10919460"/>
              <a:gd name="csY24" fmla="*/ 45719 h 45719"/>
              <a:gd name="csX25" fmla="*/ 6114898 w 10919460"/>
              <a:gd name="csY25" fmla="*/ 45719 h 45719"/>
              <a:gd name="csX26" fmla="*/ 5541626 w 10919460"/>
              <a:gd name="csY26" fmla="*/ 45719 h 45719"/>
              <a:gd name="csX27" fmla="*/ 4749965 w 10919460"/>
              <a:gd name="csY27" fmla="*/ 45719 h 45719"/>
              <a:gd name="csX28" fmla="*/ 4067499 w 10919460"/>
              <a:gd name="csY28" fmla="*/ 45719 h 45719"/>
              <a:gd name="csX29" fmla="*/ 3712616 w 10919460"/>
              <a:gd name="csY29" fmla="*/ 45719 h 45719"/>
              <a:gd name="csX30" fmla="*/ 3139345 w 10919460"/>
              <a:gd name="csY30" fmla="*/ 45719 h 45719"/>
              <a:gd name="csX31" fmla="*/ 2347684 w 10919460"/>
              <a:gd name="csY31" fmla="*/ 45719 h 45719"/>
              <a:gd name="csX32" fmla="*/ 1883607 w 10919460"/>
              <a:gd name="csY32" fmla="*/ 45719 h 45719"/>
              <a:gd name="csX33" fmla="*/ 982751 w 10919460"/>
              <a:gd name="csY33" fmla="*/ 45719 h 45719"/>
              <a:gd name="csX34" fmla="*/ 0 w 10919460"/>
              <a:gd name="csY34" fmla="*/ 45719 h 45719"/>
              <a:gd name="csX35" fmla="*/ 0 w 10919460"/>
              <a:gd name="csY35" fmla="*/ 0 h 45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19460" h="45719" fill="none" extrusionOk="0">
                <a:moveTo>
                  <a:pt x="0" y="0"/>
                </a:moveTo>
                <a:cubicBezTo>
                  <a:pt x="111780" y="8901"/>
                  <a:pt x="286298" y="-7094"/>
                  <a:pt x="464077" y="0"/>
                </a:cubicBezTo>
                <a:cubicBezTo>
                  <a:pt x="641856" y="7094"/>
                  <a:pt x="969590" y="-753"/>
                  <a:pt x="1146543" y="0"/>
                </a:cubicBezTo>
                <a:cubicBezTo>
                  <a:pt x="1323496" y="753"/>
                  <a:pt x="1644635" y="555"/>
                  <a:pt x="1938204" y="0"/>
                </a:cubicBezTo>
                <a:cubicBezTo>
                  <a:pt x="2231773" y="-555"/>
                  <a:pt x="2156065" y="7608"/>
                  <a:pt x="2293087" y="0"/>
                </a:cubicBezTo>
                <a:cubicBezTo>
                  <a:pt x="2430109" y="-7608"/>
                  <a:pt x="2571854" y="-297"/>
                  <a:pt x="2647969" y="0"/>
                </a:cubicBezTo>
                <a:cubicBezTo>
                  <a:pt x="2724084" y="297"/>
                  <a:pt x="3212352" y="-21617"/>
                  <a:pt x="3548825" y="0"/>
                </a:cubicBezTo>
                <a:cubicBezTo>
                  <a:pt x="3885298" y="21617"/>
                  <a:pt x="4005027" y="-23664"/>
                  <a:pt x="4231291" y="0"/>
                </a:cubicBezTo>
                <a:cubicBezTo>
                  <a:pt x="4457555" y="23664"/>
                  <a:pt x="4426290" y="-1906"/>
                  <a:pt x="4586173" y="0"/>
                </a:cubicBezTo>
                <a:cubicBezTo>
                  <a:pt x="4746056" y="1906"/>
                  <a:pt x="4959798" y="18656"/>
                  <a:pt x="5268639" y="0"/>
                </a:cubicBezTo>
                <a:cubicBezTo>
                  <a:pt x="5577480" y="-18656"/>
                  <a:pt x="5987480" y="39498"/>
                  <a:pt x="6169495" y="0"/>
                </a:cubicBezTo>
                <a:cubicBezTo>
                  <a:pt x="6351510" y="-39498"/>
                  <a:pt x="6515937" y="-22231"/>
                  <a:pt x="6742767" y="0"/>
                </a:cubicBezTo>
                <a:cubicBezTo>
                  <a:pt x="6969597" y="22231"/>
                  <a:pt x="7121664" y="22236"/>
                  <a:pt x="7316038" y="0"/>
                </a:cubicBezTo>
                <a:cubicBezTo>
                  <a:pt x="7510412" y="-22236"/>
                  <a:pt x="7776857" y="19023"/>
                  <a:pt x="7998504" y="0"/>
                </a:cubicBezTo>
                <a:cubicBezTo>
                  <a:pt x="8220151" y="-19023"/>
                  <a:pt x="8583272" y="-37482"/>
                  <a:pt x="8790165" y="0"/>
                </a:cubicBezTo>
                <a:cubicBezTo>
                  <a:pt x="8997058" y="37482"/>
                  <a:pt x="9327709" y="-4645"/>
                  <a:pt x="9581826" y="0"/>
                </a:cubicBezTo>
                <a:cubicBezTo>
                  <a:pt x="9835943" y="4645"/>
                  <a:pt x="10392610" y="27519"/>
                  <a:pt x="10919460" y="0"/>
                </a:cubicBezTo>
                <a:cubicBezTo>
                  <a:pt x="10917336" y="19935"/>
                  <a:pt x="10920898" y="34425"/>
                  <a:pt x="10919460" y="45719"/>
                </a:cubicBezTo>
                <a:cubicBezTo>
                  <a:pt x="10820000" y="58312"/>
                  <a:pt x="10637034" y="62973"/>
                  <a:pt x="10455383" y="45719"/>
                </a:cubicBezTo>
                <a:cubicBezTo>
                  <a:pt x="10273732" y="28465"/>
                  <a:pt x="9977957" y="81507"/>
                  <a:pt x="9554528" y="45719"/>
                </a:cubicBezTo>
                <a:cubicBezTo>
                  <a:pt x="9131100" y="9931"/>
                  <a:pt x="9169979" y="49035"/>
                  <a:pt x="8872061" y="45719"/>
                </a:cubicBezTo>
                <a:cubicBezTo>
                  <a:pt x="8574143" y="42403"/>
                  <a:pt x="8634360" y="41473"/>
                  <a:pt x="8517179" y="45719"/>
                </a:cubicBezTo>
                <a:cubicBezTo>
                  <a:pt x="8399998" y="49965"/>
                  <a:pt x="8058553" y="52293"/>
                  <a:pt x="7834713" y="45719"/>
                </a:cubicBezTo>
                <a:cubicBezTo>
                  <a:pt x="7610873" y="39145"/>
                  <a:pt x="7545630" y="26456"/>
                  <a:pt x="7261441" y="45719"/>
                </a:cubicBezTo>
                <a:cubicBezTo>
                  <a:pt x="6977252" y="64982"/>
                  <a:pt x="6812329" y="49269"/>
                  <a:pt x="6688169" y="45719"/>
                </a:cubicBezTo>
                <a:cubicBezTo>
                  <a:pt x="6564009" y="42169"/>
                  <a:pt x="6323641" y="51712"/>
                  <a:pt x="6114898" y="45719"/>
                </a:cubicBezTo>
                <a:cubicBezTo>
                  <a:pt x="5906155" y="39726"/>
                  <a:pt x="5733569" y="48059"/>
                  <a:pt x="5541626" y="45719"/>
                </a:cubicBezTo>
                <a:cubicBezTo>
                  <a:pt x="5349683" y="43379"/>
                  <a:pt x="4920834" y="19924"/>
                  <a:pt x="4749965" y="45719"/>
                </a:cubicBezTo>
                <a:cubicBezTo>
                  <a:pt x="4579096" y="71514"/>
                  <a:pt x="4312601" y="60459"/>
                  <a:pt x="4067499" y="45719"/>
                </a:cubicBezTo>
                <a:cubicBezTo>
                  <a:pt x="3822397" y="30979"/>
                  <a:pt x="3857728" y="38827"/>
                  <a:pt x="3712616" y="45719"/>
                </a:cubicBezTo>
                <a:cubicBezTo>
                  <a:pt x="3567504" y="52611"/>
                  <a:pt x="3281455" y="23326"/>
                  <a:pt x="3139345" y="45719"/>
                </a:cubicBezTo>
                <a:cubicBezTo>
                  <a:pt x="2997235" y="68112"/>
                  <a:pt x="2554941" y="11718"/>
                  <a:pt x="2347684" y="45719"/>
                </a:cubicBezTo>
                <a:cubicBezTo>
                  <a:pt x="2140427" y="79720"/>
                  <a:pt x="2115332" y="56864"/>
                  <a:pt x="1883607" y="45719"/>
                </a:cubicBezTo>
                <a:cubicBezTo>
                  <a:pt x="1651882" y="34574"/>
                  <a:pt x="1386173" y="20724"/>
                  <a:pt x="982751" y="45719"/>
                </a:cubicBezTo>
                <a:cubicBezTo>
                  <a:pt x="579329" y="70714"/>
                  <a:pt x="261740" y="27397"/>
                  <a:pt x="0" y="45719"/>
                </a:cubicBezTo>
                <a:cubicBezTo>
                  <a:pt x="-1084" y="27838"/>
                  <a:pt x="1796" y="15675"/>
                  <a:pt x="0" y="0"/>
                </a:cubicBezTo>
                <a:close/>
              </a:path>
              <a:path w="10919460" h="45719" stroke="0" extrusionOk="0">
                <a:moveTo>
                  <a:pt x="0" y="0"/>
                </a:moveTo>
                <a:cubicBezTo>
                  <a:pt x="129536" y="28072"/>
                  <a:pt x="448365" y="-16501"/>
                  <a:pt x="573272" y="0"/>
                </a:cubicBezTo>
                <a:cubicBezTo>
                  <a:pt x="698179" y="16501"/>
                  <a:pt x="832458" y="-10417"/>
                  <a:pt x="928154" y="0"/>
                </a:cubicBezTo>
                <a:cubicBezTo>
                  <a:pt x="1023850" y="10417"/>
                  <a:pt x="1624061" y="39542"/>
                  <a:pt x="1829010" y="0"/>
                </a:cubicBezTo>
                <a:cubicBezTo>
                  <a:pt x="2033959" y="-39542"/>
                  <a:pt x="2262388" y="-1691"/>
                  <a:pt x="2402281" y="0"/>
                </a:cubicBezTo>
                <a:cubicBezTo>
                  <a:pt x="2542174" y="1691"/>
                  <a:pt x="2833758" y="9201"/>
                  <a:pt x="2975553" y="0"/>
                </a:cubicBezTo>
                <a:cubicBezTo>
                  <a:pt x="3117348" y="-9201"/>
                  <a:pt x="3611694" y="1655"/>
                  <a:pt x="3876408" y="0"/>
                </a:cubicBezTo>
                <a:cubicBezTo>
                  <a:pt x="4141123" y="-1655"/>
                  <a:pt x="4246930" y="-22543"/>
                  <a:pt x="4340485" y="0"/>
                </a:cubicBezTo>
                <a:cubicBezTo>
                  <a:pt x="4434040" y="22543"/>
                  <a:pt x="4972933" y="27835"/>
                  <a:pt x="5241341" y="0"/>
                </a:cubicBezTo>
                <a:cubicBezTo>
                  <a:pt x="5509749" y="-27835"/>
                  <a:pt x="5894061" y="-18214"/>
                  <a:pt x="6142196" y="0"/>
                </a:cubicBezTo>
                <a:cubicBezTo>
                  <a:pt x="6390331" y="18214"/>
                  <a:pt x="6506442" y="28166"/>
                  <a:pt x="6824663" y="0"/>
                </a:cubicBezTo>
                <a:cubicBezTo>
                  <a:pt x="7142884" y="-28166"/>
                  <a:pt x="7385871" y="2849"/>
                  <a:pt x="7725518" y="0"/>
                </a:cubicBezTo>
                <a:cubicBezTo>
                  <a:pt x="8065165" y="-2849"/>
                  <a:pt x="8031368" y="11260"/>
                  <a:pt x="8298790" y="0"/>
                </a:cubicBezTo>
                <a:cubicBezTo>
                  <a:pt x="8566212" y="-11260"/>
                  <a:pt x="8637830" y="-23165"/>
                  <a:pt x="8872061" y="0"/>
                </a:cubicBezTo>
                <a:cubicBezTo>
                  <a:pt x="9106292" y="23165"/>
                  <a:pt x="9408526" y="12786"/>
                  <a:pt x="9663722" y="0"/>
                </a:cubicBezTo>
                <a:cubicBezTo>
                  <a:pt x="9918918" y="-12786"/>
                  <a:pt x="10041966" y="23623"/>
                  <a:pt x="10236994" y="0"/>
                </a:cubicBezTo>
                <a:cubicBezTo>
                  <a:pt x="10432022" y="-23623"/>
                  <a:pt x="10699803" y="28874"/>
                  <a:pt x="10919460" y="0"/>
                </a:cubicBezTo>
                <a:cubicBezTo>
                  <a:pt x="10920767" y="9710"/>
                  <a:pt x="10918366" y="28664"/>
                  <a:pt x="10919460" y="45719"/>
                </a:cubicBezTo>
                <a:cubicBezTo>
                  <a:pt x="10594188" y="20841"/>
                  <a:pt x="10387639" y="70251"/>
                  <a:pt x="10127799" y="45719"/>
                </a:cubicBezTo>
                <a:cubicBezTo>
                  <a:pt x="9867959" y="21187"/>
                  <a:pt x="9883918" y="30154"/>
                  <a:pt x="9772917" y="45719"/>
                </a:cubicBezTo>
                <a:cubicBezTo>
                  <a:pt x="9661916" y="61284"/>
                  <a:pt x="9433802" y="34722"/>
                  <a:pt x="9308840" y="45719"/>
                </a:cubicBezTo>
                <a:cubicBezTo>
                  <a:pt x="9183878" y="56716"/>
                  <a:pt x="8649658" y="19411"/>
                  <a:pt x="8407984" y="45719"/>
                </a:cubicBezTo>
                <a:cubicBezTo>
                  <a:pt x="8166310" y="72027"/>
                  <a:pt x="7939799" y="31424"/>
                  <a:pt x="7725518" y="45719"/>
                </a:cubicBezTo>
                <a:cubicBezTo>
                  <a:pt x="7511237" y="60014"/>
                  <a:pt x="7379508" y="32639"/>
                  <a:pt x="7261441" y="45719"/>
                </a:cubicBezTo>
                <a:cubicBezTo>
                  <a:pt x="7143374" y="58799"/>
                  <a:pt x="6735180" y="68714"/>
                  <a:pt x="6578975" y="45719"/>
                </a:cubicBezTo>
                <a:cubicBezTo>
                  <a:pt x="6422770" y="22724"/>
                  <a:pt x="6338749" y="50927"/>
                  <a:pt x="6224092" y="45719"/>
                </a:cubicBezTo>
                <a:cubicBezTo>
                  <a:pt x="6109435" y="40511"/>
                  <a:pt x="6029877" y="41360"/>
                  <a:pt x="5869210" y="45719"/>
                </a:cubicBezTo>
                <a:cubicBezTo>
                  <a:pt x="5708543" y="50078"/>
                  <a:pt x="5497986" y="27293"/>
                  <a:pt x="5186744" y="45719"/>
                </a:cubicBezTo>
                <a:cubicBezTo>
                  <a:pt x="4875502" y="64145"/>
                  <a:pt x="4821913" y="47197"/>
                  <a:pt x="4722666" y="45719"/>
                </a:cubicBezTo>
                <a:cubicBezTo>
                  <a:pt x="4623419" y="44241"/>
                  <a:pt x="4224779" y="53205"/>
                  <a:pt x="3931006" y="45719"/>
                </a:cubicBezTo>
                <a:cubicBezTo>
                  <a:pt x="3637233" y="38233"/>
                  <a:pt x="3590042" y="23677"/>
                  <a:pt x="3466929" y="45719"/>
                </a:cubicBezTo>
                <a:cubicBezTo>
                  <a:pt x="3343816" y="67761"/>
                  <a:pt x="2886632" y="52240"/>
                  <a:pt x="2675268" y="45719"/>
                </a:cubicBezTo>
                <a:cubicBezTo>
                  <a:pt x="2463904" y="39198"/>
                  <a:pt x="2438108" y="45670"/>
                  <a:pt x="2320385" y="45719"/>
                </a:cubicBezTo>
                <a:cubicBezTo>
                  <a:pt x="2202662" y="45768"/>
                  <a:pt x="1861927" y="59554"/>
                  <a:pt x="1528724" y="45719"/>
                </a:cubicBezTo>
                <a:cubicBezTo>
                  <a:pt x="1195521" y="31884"/>
                  <a:pt x="1277853" y="63462"/>
                  <a:pt x="1064647" y="45719"/>
                </a:cubicBezTo>
                <a:cubicBezTo>
                  <a:pt x="851441" y="27976"/>
                  <a:pt x="850219" y="32016"/>
                  <a:pt x="709765" y="45719"/>
                </a:cubicBezTo>
                <a:cubicBezTo>
                  <a:pt x="569311" y="59422"/>
                  <a:pt x="245802" y="76359"/>
                  <a:pt x="0" y="45719"/>
                </a:cubicBezTo>
                <a:cubicBezTo>
                  <a:pt x="-1950" y="30550"/>
                  <a:pt x="-477" y="12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9140C400-4E52-AE75-4E88-3E68CA683F39}"/>
              </a:ext>
            </a:extLst>
          </p:cNvPr>
          <p:cNvSpPr txBox="1">
            <a:spLocks/>
          </p:cNvSpPr>
          <p:nvPr/>
        </p:nvSpPr>
        <p:spPr>
          <a:xfrm>
            <a:off x="6518787" y="1894366"/>
            <a:ext cx="5820463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dirty="0"/>
              <a:t>Flusso configurazione lato utente</a:t>
            </a:r>
          </a:p>
          <a:p>
            <a:r>
              <a:rPr lang="it-IT" sz="2200" dirty="0"/>
              <a:t>Si sceglie la macchina da configura</a:t>
            </a:r>
          </a:p>
          <a:p>
            <a:r>
              <a:rPr lang="it-IT" sz="2200" dirty="0"/>
              <a:t>Si compila un form con selezioni a tendina</a:t>
            </a:r>
          </a:p>
          <a:p>
            <a:r>
              <a:rPr lang="it-IT" sz="2200" dirty="0"/>
              <a:t>In base alle risposte si filtrano dei componenti</a:t>
            </a:r>
          </a:p>
          <a:p>
            <a:r>
              <a:rPr lang="it-IT" sz="2200" dirty="0"/>
              <a:t>Si genera un prodotto con dei componenti filtrati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057FC94D-E306-A00E-5373-71369C9B0787}"/>
              </a:ext>
            </a:extLst>
          </p:cNvPr>
          <p:cNvSpPr txBox="1">
            <a:spLocks/>
          </p:cNvSpPr>
          <p:nvPr/>
        </p:nvSpPr>
        <p:spPr>
          <a:xfrm>
            <a:off x="469122" y="1894366"/>
            <a:ext cx="5459730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dirty="0"/>
              <a:t>Creazione configurazione</a:t>
            </a:r>
          </a:p>
          <a:p>
            <a:r>
              <a:rPr lang="it-IT" sz="2200" dirty="0"/>
              <a:t>Si crea un prodotto con all’interno</a:t>
            </a:r>
            <a:br>
              <a:rPr lang="it-IT" sz="2200" dirty="0"/>
            </a:br>
            <a:r>
              <a:rPr lang="it-IT" sz="2200" dirty="0"/>
              <a:t> tutti i possibili suoi componenti</a:t>
            </a:r>
          </a:p>
          <a:p>
            <a:r>
              <a:rPr lang="it-IT" sz="2200" dirty="0"/>
              <a:t>Per ognuno di essi si assegnano una o più regole</a:t>
            </a:r>
          </a:p>
          <a:p>
            <a:r>
              <a:rPr lang="it-IT" sz="2200" dirty="0"/>
              <a:t>Ad ogni regola si assegna una proprietà corrispondente ed un valore da soddisfare</a:t>
            </a:r>
          </a:p>
        </p:txBody>
      </p:sp>
    </p:spTree>
    <p:extLst>
      <p:ext uri="{BB962C8B-B14F-4D97-AF65-F5344CB8AC3E}">
        <p14:creationId xmlns:p14="http://schemas.microsoft.com/office/powerpoint/2010/main" val="147102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63E6F6-3E3E-E03F-50E5-B6E0843A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Conclusione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EAC260-308F-28C3-73FE-00DA911FF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0895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512</Words>
  <Application>Microsoft Office PowerPoint</Application>
  <PresentationFormat>Widescreen</PresentationFormat>
  <Paragraphs>85</Paragraphs>
  <Slides>12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di Office</vt:lpstr>
      <vt:lpstr>Configuratore di prodotto per le vendite</vt:lpstr>
      <vt:lpstr>Contesto di lavoro</vt:lpstr>
      <vt:lpstr>Motivazioni e risultati attesi</vt:lpstr>
      <vt:lpstr>Raccolta requisiti</vt:lpstr>
      <vt:lpstr>Metodologia progettazione</vt:lpstr>
      <vt:lpstr>Framework scelti</vt:lpstr>
      <vt:lpstr>Diagramma deployment</vt:lpstr>
      <vt:lpstr>Progettazione database</vt:lpstr>
      <vt:lpstr>Progettazione model </vt:lpstr>
      <vt:lpstr>Progettazione View  </vt:lpstr>
      <vt:lpstr>Configuratore di prodotto</vt:lpstr>
      <vt:lpstr>Conclusione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Cavina</dc:creator>
  <cp:lastModifiedBy>Mattia Cavina - mattia.cavina2@studio.unibo.it</cp:lastModifiedBy>
  <cp:revision>11</cp:revision>
  <dcterms:created xsi:type="dcterms:W3CDTF">2026-10-26T11:20:28Z</dcterms:created>
  <dcterms:modified xsi:type="dcterms:W3CDTF">2026-10-29T18:39:34Z</dcterms:modified>
</cp:coreProperties>
</file>