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-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382D0-E5E5-42D8-AA41-3ABE763FF4D8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75DBD-5771-499A-B872-6B661169A41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5864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C0CF-A65C-3C8B-02FE-A549DA1EE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8058EC-60F2-374F-CC23-FBD5D6BED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71BA53D-6BB7-CB1C-F435-11D15AE2E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59A4C1F-325B-2C7E-3FC5-E768E9058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752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2137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755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7174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5337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A75DBD-5771-499A-B872-6B661169A41A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928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D50CEC-2D8F-8026-47E6-04A4C12AB5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4430A93-298F-5D9B-8ECA-6707CB9B8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B407F7F-664A-902D-A26B-AE307F7F3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72BD34-D188-1FA3-ABC3-753F0ECEC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2C076E0-52C5-453B-CA20-4C7FE698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0784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37F433-48D4-31D3-C6A0-9D4A028CC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855FA4-0FC6-D852-07D8-6830CE175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79EF4C-A68A-5402-5B1B-C3416E63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41130A-28E2-BBE4-C6B5-358C48677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E8662B-AD87-9186-4D66-49D79BC4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9256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34C821-39DA-B97E-7CCA-66C3C25F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52DAE5-C187-CEAC-7898-BF94284F1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52AAA91-5102-897D-8340-50C1CAE19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F0E84E-8CB6-9F56-6271-0EB24959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69081-F1C2-360E-CB17-7067DA1CA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427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D9605-D616-0D40-FB6B-5EC89781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DA9352-0444-1DC7-58BB-48739D7F36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C4BAF5E-49ED-626B-AEDD-42EC5F2E8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10051-DAF8-6C5F-CFC2-718F9344F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8DAC4D-F798-CC8D-7FFE-59FE3A7E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B93CBED-F511-2CBC-09C4-C70349FA8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7391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08421-513B-A887-0C14-034FDFE9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C3433B-C614-77A7-26F0-FA41C84D7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7AED8B1-7A3E-E9CF-E3BB-D2DC75F4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8E045F-3E6E-6890-2B56-B4DB60027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95E2C43-1CEE-1BF8-6B94-02FDFE57F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CA7E8988-E4A6-53AB-30AF-8D98B49AA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F94DA5F-A7CB-5461-667A-190702E8E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EE54323-49A8-DB1F-15EE-D360AF6AE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83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384DB9-7BB0-E0BF-2860-D30E190D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4D6471-66FF-56FD-1022-6EF866C8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32A0C87-CD2D-66D1-4BD8-E4748B865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2BEB518-5A29-6886-CE16-4CB72EE8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983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9F16DB7-2E2B-C690-8E6C-8A494D07B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C4DD13F-CB38-C55B-C9A1-F2BAA1B16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C1E800-05B8-1F1D-AFFE-E9EB501BA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5009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EE4C02-4C3C-DDF0-6651-DB351D44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7591A-F6CE-F2F5-CC93-91E5B90E2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85F3C6E-559F-D2D1-3086-A62B59851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3E12DDE-1B25-6810-4CE4-C4DB31A0A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34B7C-0AF4-4207-0258-E494C74E6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461DE1A-31E3-E918-F2B1-13F3BB89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750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B5326C-0A46-EA2B-86D5-69874A70B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89C8C20-A1EA-36B0-6FC0-BCC8A2CDF57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E4CBB25-8077-A2CD-FB20-B6D518988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976DCE7-E2BD-35E4-67E6-9632944EC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DC2DB27-74B0-6DC7-0EFB-588E0F32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274D15-E7B5-B73B-6B3E-6E0B5CDB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7160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A12A7-25FA-E9D3-04B7-7689B42F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492BF26-9878-14BF-935D-9A916E5B9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C05E75-E26D-2B2D-1C43-D93D8885B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256234-9FEA-F1E4-2F22-16A5A080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867A92D-59F9-9DB3-4117-B4FFB9F4A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36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1028665-0DC8-7246-8B9C-2BDE1C159F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B7914-FC80-9B7E-F203-DEB60AAA7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6BB8AC-863D-B88A-DB9C-FC501E037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4C66BA-3EDA-248F-C1D9-C9F9F5D4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87169F-C1DA-6118-3B91-6C7D76FB2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5297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678C05F-22BB-148F-CA23-FDFD3FC22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E69B83B-78CC-0B1C-D313-F8445A2EB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1A6B6D-EF6A-1BC2-50F6-FB93544D7F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3B0DFD-9548-807D-DA64-8D2454EAF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A17A1D-D93B-73DF-006D-ADFB4FDD8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7941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B1F09-C28D-E752-21D8-978E8B47A2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4800"/>
              <a:t>Configuratore di prodotto per le vendite</a:t>
            </a:r>
            <a:endParaRPr lang="it-IT" sz="48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A7820FF-99A4-E60D-2AAD-5ACC42D4C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4029075" cy="1655762"/>
          </a:xfrm>
        </p:spPr>
        <p:txBody>
          <a:bodyPr/>
          <a:lstStyle/>
          <a:p>
            <a:r>
              <a:rPr lang="it-IT"/>
              <a:t>Autore: Cavina Mattia</a:t>
            </a:r>
            <a:endParaRPr lang="it-IT" dirty="0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27C0FC0-BBF0-ED33-C526-21D5CC9629F6}"/>
              </a:ext>
            </a:extLst>
          </p:cNvPr>
          <p:cNvSpPr txBox="1">
            <a:spLocks/>
          </p:cNvSpPr>
          <p:nvPr/>
        </p:nvSpPr>
        <p:spPr>
          <a:xfrm>
            <a:off x="6734175" y="3602038"/>
            <a:ext cx="4029075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Relatrice: Annalisa Franco</a:t>
            </a:r>
          </a:p>
        </p:txBody>
      </p:sp>
    </p:spTree>
    <p:extLst>
      <p:ext uri="{BB962C8B-B14F-4D97-AF65-F5344CB8AC3E}">
        <p14:creationId xmlns:p14="http://schemas.microsoft.com/office/powerpoint/2010/main" val="2759071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6E4288-F842-4AE0-A807-7E16E30F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olo 6">
            <a:extLst>
              <a:ext uri="{FF2B5EF4-FFF2-40B4-BE49-F238E27FC236}">
                <a16:creationId xmlns:a16="http://schemas.microsoft.com/office/drawing/2014/main" id="{666B2835-0269-32DC-36EF-334E57A0A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it-IT" sz="5400" dirty="0"/>
              <a:t>Contesto di lavoro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463E716C-0283-EE04-3345-11BB1F568B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3550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4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8940F7-3D25-439E-2C90-3B565EC23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it-IT" sz="2200" dirty="0"/>
              <a:t>Richiedente: azienda </a:t>
            </a:r>
            <a:r>
              <a:rPr lang="it-IT" sz="2200"/>
              <a:t>Cepi.s.p.a</a:t>
            </a:r>
            <a:r>
              <a:rPr lang="it-IT" sz="2200" dirty="0"/>
              <a:t>.</a:t>
            </a:r>
          </a:p>
          <a:p>
            <a:r>
              <a:rPr lang="it-IT" sz="2200" dirty="0"/>
              <a:t>Situazione: azienda in espansione con un fatturato in crescita</a:t>
            </a:r>
          </a:p>
          <a:p>
            <a:r>
              <a:rPr lang="it-IT" sz="2200" dirty="0"/>
              <a:t>Reparto interessato al progetto: Reparto vendite</a:t>
            </a:r>
          </a:p>
          <a:p>
            <a:r>
              <a:rPr lang="it-IT" sz="2200" dirty="0"/>
              <a:t>Attuale tecnologia utilizzata: Database Access implementato ~30 anni fa.</a:t>
            </a:r>
          </a:p>
          <a:p>
            <a:r>
              <a:rPr lang="it-IT" sz="2200" dirty="0"/>
              <a:t>Attuale fase aziendale: l’azienda è in un momento di riorganizzazione dei flussi e programmi informativi</a:t>
            </a:r>
          </a:p>
        </p:txBody>
      </p:sp>
    </p:spTree>
    <p:extLst>
      <p:ext uri="{BB962C8B-B14F-4D97-AF65-F5344CB8AC3E}">
        <p14:creationId xmlns:p14="http://schemas.microsoft.com/office/powerpoint/2010/main" val="466100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515082-5FF7-C561-38E3-04FC5D6A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sz="5400" dirty="0"/>
              <a:t>Motivazioni e risultati attesi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7C8E6A-D826-8C2D-C194-28A69E749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sz="2200" dirty="0"/>
              <a:t>Sostituire l’attuale sistema basato su Microsoft Access.</a:t>
            </a:r>
          </a:p>
          <a:p>
            <a:r>
              <a:rPr lang="it-IT" sz="2200" dirty="0"/>
              <a:t>Miglioramento dei tempi di realizzazione offerte</a:t>
            </a:r>
          </a:p>
          <a:p>
            <a:r>
              <a:rPr lang="it-IT" sz="2200" dirty="0"/>
              <a:t>Sistema integrato nell’ecosistema aziendale</a:t>
            </a:r>
          </a:p>
          <a:p>
            <a:r>
              <a:rPr lang="it-IT" sz="2200" dirty="0"/>
              <a:t>Strumento moderno ed estendibile</a:t>
            </a:r>
          </a:p>
          <a:p>
            <a:r>
              <a:rPr lang="it-IT" sz="2200" dirty="0"/>
              <a:t>Sistema affidabile che possa guidare i processi a valle dell’offerta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B1CD822-CAC1-2417-B6E1-3AEA40FE2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1679" y="1277722"/>
            <a:ext cx="3279063" cy="538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410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CDF3F57-DBBE-149B-33FD-C002901CF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it-IT" sz="5400"/>
              <a:t>Raccolta requisiti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2EB47B-9CEC-D6F2-EEB0-6ACDBC2CF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it-IT" sz="2200" dirty="0"/>
              <a:t>Interviste condotte a 14 utenti:</a:t>
            </a:r>
          </a:p>
          <a:p>
            <a:r>
              <a:rPr lang="it-IT" sz="2200" dirty="0"/>
              <a:t>3 soci con responsabilità distinte</a:t>
            </a:r>
          </a:p>
          <a:p>
            <a:r>
              <a:rPr lang="it-IT" sz="2200" dirty="0"/>
              <a:t>4 non utilizzatori</a:t>
            </a:r>
          </a:p>
          <a:p>
            <a:r>
              <a:rPr lang="it-IT" sz="2200" dirty="0"/>
              <a:t>7 utilizzatori dell’attuale programma</a:t>
            </a:r>
          </a:p>
          <a:p>
            <a:r>
              <a:rPr lang="it-IT" sz="2200" dirty="0"/>
              <a:t>Interviste condotte singolarmente con l’utilizzo di registrazione audio e video.</a:t>
            </a:r>
          </a:p>
        </p:txBody>
      </p:sp>
    </p:spTree>
    <p:extLst>
      <p:ext uri="{BB962C8B-B14F-4D97-AF65-F5344CB8AC3E}">
        <p14:creationId xmlns:p14="http://schemas.microsoft.com/office/powerpoint/2010/main" val="829791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1BEB27-E375-CF7F-39A2-867984623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Metodologia progettazione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4D080A-264A-F3B7-BC24-D7277569B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360"/>
            <a:ext cx="6526161" cy="185164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it-IT" sz="2200" dirty="0"/>
              <a:t>Scelta progettazione agile</a:t>
            </a:r>
          </a:p>
          <a:p>
            <a:r>
              <a:rPr lang="it-IT" sz="2200" dirty="0"/>
              <a:t>Frequenti focus group sfruttando mia presenza in azienda.</a:t>
            </a:r>
          </a:p>
          <a:p>
            <a:r>
              <a:rPr lang="it-IT" sz="2200" dirty="0"/>
              <a:t>Creazione di test per testare il back end</a:t>
            </a:r>
          </a:p>
          <a:p>
            <a:pPr marL="0" indent="0">
              <a:buNone/>
            </a:pPr>
            <a:r>
              <a:rPr lang="it-IT" sz="2200" dirty="0"/>
              <a:t>Prototipazione interfacce </a:t>
            </a:r>
            <a:r>
              <a:rPr lang="it-IT" sz="2200" dirty="0" err="1"/>
              <a:t>view</a:t>
            </a:r>
            <a:endParaRPr lang="it-IT" sz="2200" dirty="0"/>
          </a:p>
          <a:p>
            <a:pPr marL="0" indent="0">
              <a:buNone/>
            </a:pPr>
            <a:endParaRPr lang="it-IT" sz="2200" dirty="0"/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836541A7-24D1-4A13-148F-47556F2A3D00}"/>
              </a:ext>
            </a:extLst>
          </p:cNvPr>
          <p:cNvSpPr txBox="1">
            <a:spLocks/>
          </p:cNvSpPr>
          <p:nvPr/>
        </p:nvSpPr>
        <p:spPr>
          <a:xfrm>
            <a:off x="838200" y="4682331"/>
            <a:ext cx="77256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sz="2200" dirty="0"/>
              <a:t>Coprire tutte le attuali funzioni</a:t>
            </a:r>
          </a:p>
          <a:p>
            <a:pPr marL="0" indent="0">
              <a:buNone/>
            </a:pPr>
            <a:r>
              <a:rPr lang="it-IT" sz="2200" dirty="0"/>
              <a:t>Eliminare attuali problematiche bloccanti ( Es: deadlock)</a:t>
            </a: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A228C782-48C8-DFBD-6236-FC8A67D9B6F4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Obbiettivi primo rilascio</a:t>
            </a:r>
          </a:p>
        </p:txBody>
      </p:sp>
    </p:spTree>
    <p:extLst>
      <p:ext uri="{BB962C8B-B14F-4D97-AF65-F5344CB8AC3E}">
        <p14:creationId xmlns:p14="http://schemas.microsoft.com/office/powerpoint/2010/main" val="3810132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3604B6-9F7C-4494-DC22-A966888C2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18" y="643465"/>
            <a:ext cx="3895359" cy="1846615"/>
          </a:xfrm>
        </p:spPr>
        <p:txBody>
          <a:bodyPr anchor="b">
            <a:normAutofit/>
          </a:bodyPr>
          <a:lstStyle/>
          <a:p>
            <a:r>
              <a:rPr lang="it-IT" sz="5400" dirty="0"/>
              <a:t>Framework scelti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sX0" fmla="*/ 0 w 3566160"/>
              <a:gd name="csY0" fmla="*/ 0 h 18288"/>
              <a:gd name="csX1" fmla="*/ 665683 w 3566160"/>
              <a:gd name="csY1" fmla="*/ 0 h 18288"/>
              <a:gd name="csX2" fmla="*/ 1331366 w 3566160"/>
              <a:gd name="csY2" fmla="*/ 0 h 18288"/>
              <a:gd name="csX3" fmla="*/ 1818742 w 3566160"/>
              <a:gd name="csY3" fmla="*/ 0 h 18288"/>
              <a:gd name="csX4" fmla="*/ 2413102 w 3566160"/>
              <a:gd name="csY4" fmla="*/ 0 h 18288"/>
              <a:gd name="csX5" fmla="*/ 2936138 w 3566160"/>
              <a:gd name="csY5" fmla="*/ 0 h 18288"/>
              <a:gd name="csX6" fmla="*/ 3566160 w 3566160"/>
              <a:gd name="csY6" fmla="*/ 0 h 18288"/>
              <a:gd name="csX7" fmla="*/ 3566160 w 3566160"/>
              <a:gd name="csY7" fmla="*/ 18288 h 18288"/>
              <a:gd name="csX8" fmla="*/ 2971800 w 3566160"/>
              <a:gd name="csY8" fmla="*/ 18288 h 18288"/>
              <a:gd name="csX9" fmla="*/ 2448763 w 3566160"/>
              <a:gd name="csY9" fmla="*/ 18288 h 18288"/>
              <a:gd name="csX10" fmla="*/ 1854403 w 3566160"/>
              <a:gd name="csY10" fmla="*/ 18288 h 18288"/>
              <a:gd name="csX11" fmla="*/ 1295705 w 3566160"/>
              <a:gd name="csY11" fmla="*/ 18288 h 18288"/>
              <a:gd name="csX12" fmla="*/ 772668 w 3566160"/>
              <a:gd name="csY12" fmla="*/ 18288 h 18288"/>
              <a:gd name="csX13" fmla="*/ 0 w 3566160"/>
              <a:gd name="csY13" fmla="*/ 18288 h 18288"/>
              <a:gd name="csX14" fmla="*/ 0 w 356616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E327B6-0246-D362-20D8-1DF78DE1F9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167"/>
            <a:ext cx="3895522" cy="338639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sz="2000"/>
              <a:t>Database scelto, nonché già presente in azienda, SQL Server.</a:t>
            </a:r>
          </a:p>
          <a:p>
            <a:r>
              <a:rPr lang="it-IT" sz="2000"/>
              <a:t>Back end base .NET con l’utilizzo di EF Core</a:t>
            </a:r>
          </a:p>
          <a:p>
            <a:r>
              <a:rPr lang="it-IT" sz="2000"/>
              <a:t>Front end cross-platform con .NET MAUI</a:t>
            </a:r>
          </a:p>
          <a:p>
            <a:r>
              <a:rPr lang="it-IT" sz="2000"/>
              <a:t>Interfacce grafiche scritte mediante componenti</a:t>
            </a:r>
            <a:br>
              <a:rPr lang="it-IT" sz="2000"/>
            </a:br>
            <a:r>
              <a:rPr lang="it-IT" sz="2000"/>
              <a:t>Microsoft MAUI toolkit.</a:t>
            </a:r>
          </a:p>
        </p:txBody>
      </p:sp>
      <p:pic>
        <p:nvPicPr>
          <p:cNvPr id="6" name="Immagine 5" descr=".NET Application Consulting | Keyhole Software">
            <a:extLst>
              <a:ext uri="{FF2B5EF4-FFF2-40B4-BE49-F238E27FC236}">
                <a16:creationId xmlns:a16="http://schemas.microsoft.com/office/drawing/2014/main" id="{C1FE4AC1-0127-1BB8-DB16-AA38A7BB21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342900"/>
            <a:ext cx="3099816" cy="3099816"/>
          </a:xfrm>
          <a:prstGeom prst="rect">
            <a:avLst/>
          </a:prstGeom>
        </p:spPr>
      </p:pic>
      <p:pic>
        <p:nvPicPr>
          <p:cNvPr id="5" name="Immagine 4" descr="SQL Server 2025: Built-in AI, Native JSON, and What's New">
            <a:extLst>
              <a:ext uri="{FF2B5EF4-FFF2-40B4-BE49-F238E27FC236}">
                <a16:creationId xmlns:a16="http://schemas.microsoft.com/office/drawing/2014/main" id="{918AB919-6270-20AB-7346-6C6262BAED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619920"/>
            <a:ext cx="3785616" cy="1731919"/>
          </a:xfrm>
          <a:prstGeom prst="rect">
            <a:avLst/>
          </a:prstGeom>
        </p:spPr>
      </p:pic>
      <p:pic>
        <p:nvPicPr>
          <p:cNvPr id="7" name="Immagine 6" descr="Entity Framework Core – Database first – jenx.si">
            <a:extLst>
              <a:ext uri="{FF2B5EF4-FFF2-40B4-BE49-F238E27FC236}">
                <a16:creationId xmlns:a16="http://schemas.microsoft.com/office/drawing/2014/main" id="{D31DCFC7-F5A7-F41A-FFCD-E016453F7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052975"/>
            <a:ext cx="3099816" cy="1883137"/>
          </a:xfrm>
          <a:prstGeom prst="rect">
            <a:avLst/>
          </a:prstGeom>
        </p:spPr>
      </p:pic>
      <p:pic>
        <p:nvPicPr>
          <p:cNvPr id="4" name="Immagine 3" descr="Microsoft .NET SVG Icon - Free Download | Official Logo SVG | theSVG ...">
            <a:extLst>
              <a:ext uri="{FF2B5EF4-FFF2-40B4-BE49-F238E27FC236}">
                <a16:creationId xmlns:a16="http://schemas.microsoft.com/office/drawing/2014/main" id="{6AA95384-7DA9-71BF-90DD-D64C354FE4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792" y="2971759"/>
            <a:ext cx="3221807" cy="32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663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623637-6F9F-635B-9899-6231BDE30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 err="1"/>
              <a:t>Diagrammi</a:t>
            </a:r>
            <a:r>
              <a:rPr lang="en-US" sz="6100" dirty="0"/>
              <a:t> deployment e package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DA965A1F-EE09-23EB-397C-63EEBB924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38" y="2642616"/>
            <a:ext cx="4450020" cy="360578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337F9E6-131D-86DB-B088-E292615542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496" y="2880490"/>
            <a:ext cx="5614416" cy="3130036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1039889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C1CF9C-F841-44AC-6DD2-61FC3AD3F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it-IT" sz="5400"/>
              <a:t>Progettazione database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A1460C-748D-043D-06F3-42BB287A5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it-IT" sz="2200"/>
              <a:t>Importazione da Access mediante SSMA</a:t>
            </a:r>
          </a:p>
          <a:p>
            <a:r>
              <a:rPr lang="it-IT" sz="2200"/>
              <a:t>Ristrutturazione, normalizzazione, modifiche tramite SSIS.</a:t>
            </a:r>
          </a:p>
          <a:p>
            <a:r>
              <a:rPr lang="it-IT" sz="2200"/>
              <a:t>Unificato tabelle simili e differenziate mediante appositi Lookup</a:t>
            </a:r>
          </a:p>
          <a:p>
            <a:r>
              <a:rPr lang="it-IT" sz="2200"/>
              <a:t>Replicate strutture di database da cui si deve importare dati</a:t>
            </a:r>
          </a:p>
          <a:p>
            <a:r>
              <a:rPr lang="it-IT" sz="2200"/>
              <a:t>Generate tabelle e trigger di backup</a:t>
            </a:r>
          </a:p>
          <a:p>
            <a:r>
              <a:rPr lang="it-IT" sz="2200"/>
              <a:t>Generate stored procedure di import dati.</a:t>
            </a:r>
          </a:p>
        </p:txBody>
      </p:sp>
    </p:spTree>
    <p:extLst>
      <p:ext uri="{BB962C8B-B14F-4D97-AF65-F5344CB8AC3E}">
        <p14:creationId xmlns:p14="http://schemas.microsoft.com/office/powerpoint/2010/main" val="2051537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A35E18-9BF4-93D1-67E4-6F232152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Progettazione model	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ACF8CDA2-8526-AF27-9839-4BB1D949735E}"/>
              </a:ext>
            </a:extLst>
          </p:cNvPr>
          <p:cNvSpPr txBox="1">
            <a:spLocks/>
          </p:cNvSpPr>
          <p:nvPr/>
        </p:nvSpPr>
        <p:spPr>
          <a:xfrm>
            <a:off x="838200" y="1929384"/>
            <a:ext cx="10515600" cy="4251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/>
              <a:t>Utilizzato EF Core per mappare il database in entity</a:t>
            </a:r>
          </a:p>
          <a:p>
            <a:r>
              <a:rPr lang="en-US" sz="2200"/>
              <a:t>Mappate in classi neutre dette DTO, mediante NuGet Mapster</a:t>
            </a:r>
          </a:p>
          <a:p>
            <a:r>
              <a:rPr lang="en-US" sz="2200"/>
              <a:t>Creati Repository per gestire il database e relativi test di validazione</a:t>
            </a:r>
          </a:p>
          <a:p>
            <a:r>
              <a:rPr lang="en-US" sz="2200"/>
              <a:t>Esposto all’esterno solo l’interfaccia DbManager</a:t>
            </a:r>
          </a:p>
          <a:p>
            <a:r>
              <a:rPr lang="en-US" sz="2200"/>
              <a:t>Query scritte mediante LINQ.</a:t>
            </a:r>
          </a:p>
        </p:txBody>
      </p:sp>
      <p:pic>
        <p:nvPicPr>
          <p:cNvPr id="11" name="Immagine 10" descr="oop - What should application layer return? entity or dto? - Stack Overflow">
            <a:extLst>
              <a:ext uri="{FF2B5EF4-FFF2-40B4-BE49-F238E27FC236}">
                <a16:creationId xmlns:a16="http://schemas.microsoft.com/office/drawing/2014/main" id="{9ADC1BA7-1C4F-9BD7-5A05-3B984A880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" y="4699566"/>
            <a:ext cx="7007049" cy="182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447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0865A1-DA0E-1220-9619-58139CB60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olo 6">
            <a:extLst>
              <a:ext uri="{FF2B5EF4-FFF2-40B4-BE49-F238E27FC236}">
                <a16:creationId xmlns:a16="http://schemas.microsoft.com/office/drawing/2014/main" id="{F0BAEF04-0170-ED0A-F4C0-10025E48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it-IT" sz="5400" dirty="0"/>
              <a:t>Progettazione View	</a:t>
            </a:r>
            <a:br>
              <a:rPr lang="it-IT" sz="5400" dirty="0"/>
            </a:br>
            <a:endParaRPr lang="it-IT" sz="5400" dirty="0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8A465B-70BA-60C7-1157-EA7D9D083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it-IT" sz="2200" dirty="0"/>
              <a:t>Prototipazione mediante </a:t>
            </a:r>
            <a:r>
              <a:rPr lang="it-IT" sz="2200" dirty="0" err="1"/>
              <a:t>Figma</a:t>
            </a:r>
            <a:endParaRPr lang="it-IT" sz="2200" dirty="0"/>
          </a:p>
          <a:p>
            <a:r>
              <a:rPr lang="it-IT" sz="2200" dirty="0"/>
              <a:t>Conversione in codice e creazione </a:t>
            </a:r>
            <a:r>
              <a:rPr lang="it-IT" sz="2200" dirty="0" err="1"/>
              <a:t>factory</a:t>
            </a:r>
            <a:br>
              <a:rPr lang="it-IT" sz="2200" dirty="0"/>
            </a:br>
            <a:r>
              <a:rPr lang="it-IT" sz="2200" dirty="0"/>
              <a:t> per gli elementi</a:t>
            </a:r>
          </a:p>
          <a:p>
            <a:r>
              <a:rPr lang="it-IT" sz="2200" dirty="0"/>
              <a:t>Validate interfacce tramite focus group</a:t>
            </a:r>
          </a:p>
          <a:p>
            <a:r>
              <a:rPr lang="it-IT" sz="2200" dirty="0"/>
              <a:t>Interfaccia col database mediante </a:t>
            </a:r>
            <a:r>
              <a:rPr lang="it-IT" sz="2200" dirty="0" err="1"/>
              <a:t>ViewModel</a:t>
            </a:r>
            <a:r>
              <a:rPr lang="it-IT" sz="2200" dirty="0"/>
              <a:t> secondo il modello MVVM.</a:t>
            </a:r>
          </a:p>
          <a:p>
            <a:r>
              <a:rPr lang="it-IT" sz="2200" dirty="0"/>
              <a:t>Uso della </a:t>
            </a:r>
            <a:r>
              <a:rPr lang="it-IT" sz="2200" dirty="0" err="1"/>
              <a:t>Dependency</a:t>
            </a:r>
            <a:r>
              <a:rPr lang="it-IT" sz="2200" dirty="0"/>
              <a:t> Injection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3E69A40-38B8-2E30-04F8-D1260EBD9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669299"/>
            <a:ext cx="4014216" cy="2749737"/>
          </a:xfrm>
          <a:prstGeom prst="rect">
            <a:avLst/>
          </a:prstGeom>
          <a:solidFill>
            <a:srgbClr val="FFFFFF">
              <a:shade val="85000"/>
            </a:srgbClr>
          </a:solidFill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C688FDB2-C48E-E346-3250-D6C52F2666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4358154"/>
            <a:ext cx="3995928" cy="1618350"/>
          </a:xfrm>
          <a:prstGeom prst="rect">
            <a:avLst/>
          </a:prstGeom>
          <a:solidFill>
            <a:srgbClr val="FFFFFF">
              <a:shade val="85000"/>
            </a:srgbClr>
          </a:solidFill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31773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262E07-1CD0-76F0-8D16-141342DF7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Configuratore di prodotto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4CEF3E8-5B8C-7B7C-0062-7F1F15EDF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12" y="1825625"/>
            <a:ext cx="1023597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02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63E6F6-3E3E-E03F-50E5-B6E0843A3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Conclusione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EAC260-308F-28C3-73FE-00DA911FF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108951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363</Words>
  <Application>Microsoft Office PowerPoint</Application>
  <PresentationFormat>Widescreen</PresentationFormat>
  <Paragraphs>62</Paragraphs>
  <Slides>12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di Office</vt:lpstr>
      <vt:lpstr>Configuratore di prodotto per le vendite</vt:lpstr>
      <vt:lpstr>Contesto di lavoro</vt:lpstr>
      <vt:lpstr>Motivazioni e risultati attesi</vt:lpstr>
      <vt:lpstr>Raccolta requisiti</vt:lpstr>
      <vt:lpstr>Metodologia progettazione</vt:lpstr>
      <vt:lpstr>Framework scelti</vt:lpstr>
      <vt:lpstr>Diagrammi deployment e package</vt:lpstr>
      <vt:lpstr>Progettazione database</vt:lpstr>
      <vt:lpstr>Progettazione model </vt:lpstr>
      <vt:lpstr>Progettazione View  </vt:lpstr>
      <vt:lpstr>Configuratore di prodotto</vt:lpstr>
      <vt:lpstr>Conclusione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 Cavina</dc:creator>
  <cp:lastModifiedBy>Mattia Cavina - mattia.cavina2@studio.unibo.it</cp:lastModifiedBy>
  <cp:revision>9</cp:revision>
  <dcterms:created xsi:type="dcterms:W3CDTF">2026-10-26T11:20:28Z</dcterms:created>
  <dcterms:modified xsi:type="dcterms:W3CDTF">2026-10-26T21:32:56Z</dcterms:modified>
</cp:coreProperties>
</file>